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2"/>
  </p:notesMasterIdLst>
  <p:sldIdLst>
    <p:sldId id="282" r:id="rId2"/>
    <p:sldId id="311" r:id="rId3"/>
    <p:sldId id="313" r:id="rId4"/>
    <p:sldId id="319" r:id="rId5"/>
    <p:sldId id="312" r:id="rId6"/>
    <p:sldId id="314" r:id="rId7"/>
    <p:sldId id="331" r:id="rId8"/>
    <p:sldId id="332" r:id="rId9"/>
    <p:sldId id="333" r:id="rId10"/>
    <p:sldId id="334" r:id="rId11"/>
    <p:sldId id="315" r:id="rId12"/>
    <p:sldId id="316" r:id="rId13"/>
    <p:sldId id="317" r:id="rId14"/>
    <p:sldId id="335" r:id="rId15"/>
    <p:sldId id="318" r:id="rId16"/>
    <p:sldId id="320" r:id="rId17"/>
    <p:sldId id="336" r:id="rId18"/>
    <p:sldId id="321" r:id="rId19"/>
    <p:sldId id="337" r:id="rId20"/>
    <p:sldId id="322" r:id="rId21"/>
    <p:sldId id="323" r:id="rId22"/>
    <p:sldId id="338" r:id="rId23"/>
    <p:sldId id="339" r:id="rId24"/>
    <p:sldId id="325" r:id="rId25"/>
    <p:sldId id="324" r:id="rId26"/>
    <p:sldId id="326" r:id="rId27"/>
    <p:sldId id="327" r:id="rId28"/>
    <p:sldId id="328" r:id="rId29"/>
    <p:sldId id="329" r:id="rId30"/>
    <p:sldId id="330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5F44C0-6045-407F-95FD-3CD8B9C1F5B8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5374BC-00A5-4CEE-B45A-1DE09D05EF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22999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374BC-00A5-4CEE-B45A-1DE09D05EF4D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678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A4696-9041-5465-2598-160126EA3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8B7FAA-83BC-326F-DC2C-4DC1D1103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B0655BE-0841-3FE0-37F9-7902A26555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EFC0A-399D-2354-6C79-A789A38F5E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A5374BC-00A5-4CEE-B45A-1DE09D05EF4D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475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DC53A-A8A1-AB56-D601-A231D67A76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857929-02D4-BD70-11E6-815CB5FC3B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C8F338-592E-3D40-3C23-1A6139E80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C060-61A5-4F06-A9AE-1EEA1F9D51C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E7F47-DDB0-4B2A-9E1B-623CB1DF7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5F23E9-EB10-6C75-AF33-B34787022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FE53-6181-4826-A095-C8160614A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2650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EE9B1E-5B15-CFE0-A0E8-03581BFFA2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9B6024-ADC2-7BC6-E7FE-5D26C3531F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FF7A0D-9BE9-9DCF-294E-999AB37C7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C060-61A5-4F06-A9AE-1EEA1F9D51C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CDF045-38D0-8070-5F2F-18C1A5068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CBD91-9B40-7626-3161-E3B55CAC7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FE53-6181-4826-A095-C8160614A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058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E22A8-661D-9B35-5CFA-9F818E7E3A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A5C5C7-BE3A-2B4D-7AF0-FDC3728E6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640B35-96EA-C730-287C-1EB9D7724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C060-61A5-4F06-A9AE-1EEA1F9D51C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DC03DB-B3EA-BA33-DCA5-0C3D027F4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407FB3-920A-82B4-7E1A-70CB85CF6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FE53-6181-4826-A095-C8160614A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6443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49518-5472-7DA3-E1E6-4F51DE193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22435-15B4-0EF9-68FA-C555636F1A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B2AD90-678D-AFDB-C830-7066F68896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87A010-0754-EACC-45EA-709EDE676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C060-61A5-4F06-A9AE-1EEA1F9D51C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91B2D-7A4C-3C6C-1370-44F8AFB04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D050CF-9207-5D61-780A-A83EFE437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FE53-6181-4826-A095-C8160614A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19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0B8F8-C61D-32CB-E47F-4792E8CBF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843718-4C0D-D66D-2091-5068F6948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94102C-B825-9B51-9AA5-854DE48837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60C31-70F1-E1D7-1DB8-7E288F2342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E98E305-8F13-3E20-8605-F568505C03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5980DC-7372-E98D-3B8A-114A8D302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C060-61A5-4F06-A9AE-1EEA1F9D51C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B56CED-DFF2-388F-347B-5BEAB83C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F9635E-D1D7-7891-28A7-F473B8378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FE53-6181-4826-A095-C8160614A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424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AAA1F-CC20-E3B0-4CDC-EA6E9E265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84C011-5392-6005-0775-8E7B92BA84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C060-61A5-4F06-A9AE-1EEA1F9D51C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8DD1DC-91E4-462C-F34B-D74091EFC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CD515C-3B5A-13FA-74E1-6F36DD5D0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FE53-6181-4826-A095-C8160614A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946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190E8D-FC16-CD97-0528-9283E5AB5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C060-61A5-4F06-A9AE-1EEA1F9D51C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03923E-5052-135D-02B3-1193EE79E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7716B6-6CA6-5DDA-12EE-EDAF26197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FE53-6181-4826-A095-C8160614A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61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A8B3BC-428C-0FEE-EE8C-AEEB72DD40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E5A96-3919-2B7B-3B7E-DA6090A645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D639E8-D271-35C7-9731-33FF79070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331919-9179-F5CE-B7A7-431E05EB4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C060-61A5-4F06-A9AE-1EEA1F9D51C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5DBFAB-3501-CBE3-2EA1-F332200F33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8F5BBA-6B70-0440-4D8A-132531DCC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FE53-6181-4826-A095-C8160614A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825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828C0E-3612-A970-6540-7846741692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8EFBCB-A884-EDA2-C34E-58068E537B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6C4B5C-16C7-AE98-FB4A-0581B60E3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66A0A6-C771-0454-4441-EF0742E5C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C060-61A5-4F06-A9AE-1EEA1F9D51C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391FB6-AD8B-8F68-4F9D-B85366B8D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9CB4FF-D842-0EDA-2907-B96469340F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FE53-6181-4826-A095-C8160614A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682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E994A0-5858-5B61-1AA4-8990A135D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EC6450-2121-A402-63DF-B420BF564A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485DE7-4433-DA0A-47C1-3FFEA30FF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C060-61A5-4F06-A9AE-1EEA1F9D51C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C892C-4B49-FB01-8A3F-D276BE2DA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B9BB27-A8BA-DB88-9CFF-1A6B6919C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FE53-6181-4826-A095-C8160614A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185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CA853D-6647-325A-B26D-4BE2FA408F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55C6E-A383-0834-174C-5BA216D21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3E4A8-D8B4-7000-AC76-A2F317EB2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EDC060-61A5-4F06-A9AE-1EEA1F9D51C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F49918-D773-5724-1DA5-C42C8FE48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EC3A6-F939-3447-0739-5472085A9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4DFE53-6181-4826-A095-C8160614A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104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29A312-1D06-127B-DEDF-E17B6ECEA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3732C7-A177-AD89-BA0B-C801C02A69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42053B-6D61-D200-EA1E-26D26DF95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EDC060-61A5-4F06-A9AE-1EEA1F9D51C3}" type="datetimeFigureOut">
              <a:rPr lang="en-US" smtClean="0"/>
              <a:t>2/2/2026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01581-7063-DCEB-C9AE-A08AE8583A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D315DA-92DB-DC62-8328-45BDCE463A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4DFE53-6181-4826-A095-C8160614A8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5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close up of nerve cell">
            <a:extLst>
              <a:ext uri="{FF2B5EF4-FFF2-40B4-BE49-F238E27FC236}">
                <a16:creationId xmlns:a16="http://schemas.microsoft.com/office/drawing/2014/main" id="{BC7B2A30-0315-C87C-57E3-FC31ECC0F69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t="8534" b="16466"/>
          <a:stretch>
            <a:fillRect/>
          </a:stretch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AAB698-BECE-2502-0F09-D05B6AE931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2900518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React App Dev</a:t>
            </a:r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B76B52-F8F8-D68A-6EB5-BCB64A83C5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59404"/>
            <a:ext cx="9144000" cy="1098395"/>
          </a:xfrm>
        </p:spPr>
        <p:txBody>
          <a:bodyPr>
            <a:normAutofit/>
          </a:bodyPr>
          <a:lstStyle/>
          <a:p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4706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31855A-C288-2266-415A-B0C11D2B0B79}"/>
              </a:ext>
            </a:extLst>
          </p:cNvPr>
          <p:cNvSpPr/>
          <p:nvPr/>
        </p:nvSpPr>
        <p:spPr>
          <a:xfrm>
            <a:off x="7659757" y="530087"/>
            <a:ext cx="2902226" cy="54996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Web Server</a:t>
            </a:r>
          </a:p>
          <a:p>
            <a:pPr algn="ctr"/>
            <a:r>
              <a:rPr lang="en-US" b="1" dirty="0"/>
              <a:t>IIS / Nginx / Apache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6CD5C2-444E-F589-C6DE-BEEFB6C51EF5}"/>
              </a:ext>
            </a:extLst>
          </p:cNvPr>
          <p:cNvSpPr/>
          <p:nvPr/>
        </p:nvSpPr>
        <p:spPr>
          <a:xfrm>
            <a:off x="7761767" y="1626781"/>
            <a:ext cx="2743200" cy="552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Request Listener / Interceptor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3DF438-8808-6E8E-9BED-3D1ABC720EFB}"/>
              </a:ext>
            </a:extLst>
          </p:cNvPr>
          <p:cNvSpPr/>
          <p:nvPr/>
        </p:nvSpPr>
        <p:spPr>
          <a:xfrm>
            <a:off x="7761768" y="2456121"/>
            <a:ext cx="2743200" cy="23285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F804FA3-3F50-4759-0A20-9151C38A6265}"/>
              </a:ext>
            </a:extLst>
          </p:cNvPr>
          <p:cNvSpPr/>
          <p:nvPr/>
        </p:nvSpPr>
        <p:spPr>
          <a:xfrm>
            <a:off x="7878726" y="2541181"/>
            <a:ext cx="2519916" cy="46783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Static / Dynamic Pages</a:t>
            </a:r>
          </a:p>
          <a:p>
            <a:pPr algn="ctr"/>
            <a:r>
              <a:rPr lang="en-US" b="1" dirty="0"/>
              <a:t>HTML , CSS , JS, etc.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66831-C3DA-BC05-675B-615BD078EC5D}"/>
              </a:ext>
            </a:extLst>
          </p:cNvPr>
          <p:cNvSpPr/>
          <p:nvPr/>
        </p:nvSpPr>
        <p:spPr>
          <a:xfrm>
            <a:off x="7889358" y="3189767"/>
            <a:ext cx="2530549" cy="6379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Application Layer</a:t>
            </a:r>
          </a:p>
          <a:p>
            <a:pPr algn="ctr"/>
            <a:r>
              <a:rPr lang="en-US" b="1" dirty="0"/>
              <a:t>Business WF / Domain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21BC70-3EA1-60FE-236F-41418A744327}"/>
              </a:ext>
            </a:extLst>
          </p:cNvPr>
          <p:cNvSpPr/>
          <p:nvPr/>
        </p:nvSpPr>
        <p:spPr>
          <a:xfrm>
            <a:off x="7878726" y="4008474"/>
            <a:ext cx="2519916" cy="574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 Access 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3496C4-08CD-CCE0-D6EF-4DD6D9ABAEE5}"/>
              </a:ext>
            </a:extLst>
          </p:cNvPr>
          <p:cNvSpPr/>
          <p:nvPr/>
        </p:nvSpPr>
        <p:spPr>
          <a:xfrm>
            <a:off x="7761767" y="4986670"/>
            <a:ext cx="2658140" cy="8399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Application Runtime</a:t>
            </a:r>
          </a:p>
          <a:p>
            <a:pPr algn="ctr"/>
            <a:r>
              <a:rPr lang="en-US" b="1" dirty="0"/>
              <a:t>Node.js,  .NET Core, JR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0108D9-B338-D05F-D6C7-F15E7391EA3E}"/>
              </a:ext>
            </a:extLst>
          </p:cNvPr>
          <p:cNvSpPr/>
          <p:nvPr/>
        </p:nvSpPr>
        <p:spPr>
          <a:xfrm>
            <a:off x="255182" y="1765004"/>
            <a:ext cx="2573079" cy="2530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Browser</a:t>
            </a:r>
          </a:p>
        </p:txBody>
      </p:sp>
      <p:cxnSp>
        <p:nvCxnSpPr>
          <p:cNvPr id="13" name="Elbow Connector 12">
            <a:extLst>
              <a:ext uri="{FF2B5EF4-FFF2-40B4-BE49-F238E27FC236}">
                <a16:creationId xmlns:a16="http://schemas.microsoft.com/office/drawing/2014/main" id="{F84A5A51-C115-C184-D707-430841440CE5}"/>
              </a:ext>
            </a:extLst>
          </p:cNvPr>
          <p:cNvCxnSpPr>
            <a:cxnSpLocks/>
            <a:stCxn id="11" idx="0"/>
            <a:endCxn id="5" idx="1"/>
          </p:cNvCxnSpPr>
          <p:nvPr/>
        </p:nvCxnSpPr>
        <p:spPr>
          <a:xfrm rot="16200000" flipH="1">
            <a:off x="4582632" y="-1275906"/>
            <a:ext cx="138224" cy="6220045"/>
          </a:xfrm>
          <a:prstGeom prst="bentConnector4">
            <a:avLst>
              <a:gd name="adj1" fmla="val -165384"/>
              <a:gd name="adj2" fmla="val 603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>
            <a:extLst>
              <a:ext uri="{FF2B5EF4-FFF2-40B4-BE49-F238E27FC236}">
                <a16:creationId xmlns:a16="http://schemas.microsoft.com/office/drawing/2014/main" id="{4BCCD7D0-0BC7-5363-8673-6879F780A1D7}"/>
              </a:ext>
            </a:extLst>
          </p:cNvPr>
          <p:cNvCxnSpPr>
            <a:cxnSpLocks/>
            <a:stCxn id="6" idx="1"/>
            <a:endCxn id="11" idx="2"/>
          </p:cNvCxnSpPr>
          <p:nvPr/>
        </p:nvCxnSpPr>
        <p:spPr>
          <a:xfrm rot="10800000" flipV="1">
            <a:off x="1541722" y="3620385"/>
            <a:ext cx="6220046" cy="675167"/>
          </a:xfrm>
          <a:prstGeom prst="bentConnector4">
            <a:avLst>
              <a:gd name="adj1" fmla="val 39658"/>
              <a:gd name="adj2" fmla="val 20629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D415AAF-D321-8CBA-9A62-D159550BB184}"/>
              </a:ext>
            </a:extLst>
          </p:cNvPr>
          <p:cNvSpPr/>
          <p:nvPr/>
        </p:nvSpPr>
        <p:spPr>
          <a:xfrm>
            <a:off x="255182" y="3428999"/>
            <a:ext cx="2573079" cy="6432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HTML DOM, JS, CSS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178525E-AFB0-247D-62A1-7758B80168B4}"/>
              </a:ext>
            </a:extLst>
          </p:cNvPr>
          <p:cNvSpPr txBox="1"/>
          <p:nvPr/>
        </p:nvSpPr>
        <p:spPr>
          <a:xfrm>
            <a:off x="4561367" y="935665"/>
            <a:ext cx="20946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 for Page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98E60A5-E741-DE5D-4C93-C38F46557A50}"/>
              </a:ext>
            </a:extLst>
          </p:cNvPr>
          <p:cNvSpPr txBox="1"/>
          <p:nvPr/>
        </p:nvSpPr>
        <p:spPr>
          <a:xfrm>
            <a:off x="4373525" y="4213301"/>
            <a:ext cx="2094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Page response with Data and UI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6D2839-9E58-0AA1-6BCE-819414384F5A}"/>
              </a:ext>
            </a:extLst>
          </p:cNvPr>
          <p:cNvSpPr txBox="1"/>
          <p:nvPr/>
        </p:nvSpPr>
        <p:spPr>
          <a:xfrm>
            <a:off x="6762308" y="1626781"/>
            <a:ext cx="999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9090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B51DA2-F9C2-A3B7-FBFF-FD649E6F7FEC}"/>
              </a:ext>
            </a:extLst>
          </p:cNvPr>
          <p:cNvSpPr txBox="1"/>
          <p:nvPr/>
        </p:nvSpPr>
        <p:spPr>
          <a:xfrm>
            <a:off x="7659757" y="6039591"/>
            <a:ext cx="3678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www.myapplication.com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965013B-C12B-0765-6EF4-A01E2AC8DAC7}"/>
              </a:ext>
            </a:extLst>
          </p:cNvPr>
          <p:cNvSpPr txBox="1"/>
          <p:nvPr/>
        </p:nvSpPr>
        <p:spPr>
          <a:xfrm>
            <a:off x="7889358" y="40989"/>
            <a:ext cx="2509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10.30.120.67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E30FD67-1218-4CD4-1D83-090A93A4D2B8}"/>
              </a:ext>
            </a:extLst>
          </p:cNvPr>
          <p:cNvSpPr txBox="1"/>
          <p:nvPr/>
        </p:nvSpPr>
        <p:spPr>
          <a:xfrm>
            <a:off x="3147237" y="274469"/>
            <a:ext cx="30090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https://10.30.120.67:9090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6C690B7-EE23-9F0B-3B25-2333B2E5425C}"/>
              </a:ext>
            </a:extLst>
          </p:cNvPr>
          <p:cNvSpPr txBox="1"/>
          <p:nvPr/>
        </p:nvSpPr>
        <p:spPr>
          <a:xfrm>
            <a:off x="2930271" y="1991625"/>
            <a:ext cx="3832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www.myapplication.com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47D9A87-404E-10BE-E90C-9EFDD6CCC57D}"/>
              </a:ext>
            </a:extLst>
          </p:cNvPr>
          <p:cNvSpPr txBox="1"/>
          <p:nvPr/>
        </p:nvSpPr>
        <p:spPr>
          <a:xfrm>
            <a:off x="106017" y="274469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Traditional Web Apps</a:t>
            </a:r>
          </a:p>
        </p:txBody>
      </p:sp>
    </p:spTree>
    <p:extLst>
      <p:ext uri="{BB962C8B-B14F-4D97-AF65-F5344CB8AC3E}">
        <p14:creationId xmlns:p14="http://schemas.microsoft.com/office/powerpoint/2010/main" val="2434346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xagon 1">
            <a:extLst>
              <a:ext uri="{FF2B5EF4-FFF2-40B4-BE49-F238E27FC236}">
                <a16:creationId xmlns:a16="http://schemas.microsoft.com/office/drawing/2014/main" id="{7479A5CD-BC5A-BBC9-45B3-2D432D72CBEA}"/>
              </a:ext>
            </a:extLst>
          </p:cNvPr>
          <p:cNvSpPr/>
          <p:nvPr/>
        </p:nvSpPr>
        <p:spPr>
          <a:xfrm>
            <a:off x="4451230" y="2346385"/>
            <a:ext cx="3183147" cy="1828800"/>
          </a:xfrm>
          <a:prstGeom prst="hexag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JavaScript</a:t>
            </a:r>
          </a:p>
          <a:p>
            <a:pPr algn="ctr"/>
            <a:r>
              <a:rPr lang="en-GB" b="1" dirty="0"/>
              <a:t>World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6FC1D5-EFFD-8B8B-794C-6E18254F22AE}"/>
              </a:ext>
            </a:extLst>
          </p:cNvPr>
          <p:cNvSpPr/>
          <p:nvPr/>
        </p:nvSpPr>
        <p:spPr>
          <a:xfrm>
            <a:off x="224287" y="224287"/>
            <a:ext cx="2104845" cy="1233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JS Libraries</a:t>
            </a:r>
          </a:p>
          <a:p>
            <a:pPr algn="ctr"/>
            <a:r>
              <a:rPr lang="en-GB" sz="1200" b="1" dirty="0"/>
              <a:t>Specific Targeted JS Object Model e.g. DOM Handling using jQuery, Charts with Chart.js, MVVM with Knockouts, </a:t>
            </a:r>
            <a:r>
              <a:rPr lang="en-GB" sz="1200" b="1" dirty="0" err="1"/>
              <a:t>React.ujs</a:t>
            </a:r>
            <a:endParaRPr lang="en-US" sz="1200" b="1" dirty="0"/>
          </a:p>
        </p:txBody>
      </p:sp>
      <p:cxnSp>
        <p:nvCxnSpPr>
          <p:cNvPr id="5" name="Connector: Curved 4">
            <a:extLst>
              <a:ext uri="{FF2B5EF4-FFF2-40B4-BE49-F238E27FC236}">
                <a16:creationId xmlns:a16="http://schemas.microsoft.com/office/drawing/2014/main" id="{7A3524AA-9CF2-8089-56EF-FBAB2D2EAB82}"/>
              </a:ext>
            </a:extLst>
          </p:cNvPr>
          <p:cNvCxnSpPr>
            <a:stCxn id="2" idx="3"/>
            <a:endCxn id="3" idx="2"/>
          </p:cNvCxnSpPr>
          <p:nvPr/>
        </p:nvCxnSpPr>
        <p:spPr>
          <a:xfrm rot="10800000">
            <a:off x="1276710" y="1457865"/>
            <a:ext cx="3174520" cy="180292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0900908-ED62-419B-ED5F-62FB6F9BE839}"/>
              </a:ext>
            </a:extLst>
          </p:cNvPr>
          <p:cNvSpPr/>
          <p:nvPr/>
        </p:nvSpPr>
        <p:spPr>
          <a:xfrm>
            <a:off x="9862868" y="224286"/>
            <a:ext cx="2104845" cy="1233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JS Framework </a:t>
            </a:r>
          </a:p>
          <a:p>
            <a:pPr algn="ctr"/>
            <a:r>
              <a:rPr lang="en-GB" sz="1100" b="1" dirty="0"/>
              <a:t>a Single JS Object Model that has DOM, HTTP Calls, Data Binding, UI Management, etc. Angular.js, Backbone, Angular</a:t>
            </a:r>
            <a:endParaRPr lang="en-US" sz="900" b="1" dirty="0"/>
          </a:p>
        </p:txBody>
      </p:sp>
      <p:cxnSp>
        <p:nvCxnSpPr>
          <p:cNvPr id="8" name="Connector: Curved 7">
            <a:extLst>
              <a:ext uri="{FF2B5EF4-FFF2-40B4-BE49-F238E27FC236}">
                <a16:creationId xmlns:a16="http://schemas.microsoft.com/office/drawing/2014/main" id="{41B5FB7F-5D53-71BF-09C7-0E7A78370461}"/>
              </a:ext>
            </a:extLst>
          </p:cNvPr>
          <p:cNvCxnSpPr>
            <a:stCxn id="2" idx="0"/>
            <a:endCxn id="6" idx="2"/>
          </p:cNvCxnSpPr>
          <p:nvPr/>
        </p:nvCxnSpPr>
        <p:spPr>
          <a:xfrm flipV="1">
            <a:off x="7634377" y="1457863"/>
            <a:ext cx="3280914" cy="180292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9B94507E-62EB-6499-0511-764DC0EE5059}"/>
              </a:ext>
            </a:extLst>
          </p:cNvPr>
          <p:cNvSpPr/>
          <p:nvPr/>
        </p:nvSpPr>
        <p:spPr>
          <a:xfrm>
            <a:off x="224287" y="5400135"/>
            <a:ext cx="2104845" cy="1233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JS Testing Tools</a:t>
            </a:r>
          </a:p>
          <a:p>
            <a:pPr algn="ctr"/>
            <a:r>
              <a:rPr lang="en-GB" sz="1000" b="1" dirty="0"/>
              <a:t>Unit testing, Performance Testing, UI Testing</a:t>
            </a:r>
            <a:endParaRPr lang="en-US" sz="900" b="1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210AD967-359E-A24E-C546-513B55A1D0BE}"/>
              </a:ext>
            </a:extLst>
          </p:cNvPr>
          <p:cNvCxnSpPr>
            <a:stCxn id="2" idx="3"/>
            <a:endCxn id="9" idx="0"/>
          </p:cNvCxnSpPr>
          <p:nvPr/>
        </p:nvCxnSpPr>
        <p:spPr>
          <a:xfrm rot="10800000" flipV="1">
            <a:off x="1276710" y="3260785"/>
            <a:ext cx="3174520" cy="2139350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D0A34335-3120-AF33-28E8-828F2CF3EABD}"/>
              </a:ext>
            </a:extLst>
          </p:cNvPr>
          <p:cNvSpPr/>
          <p:nvPr/>
        </p:nvSpPr>
        <p:spPr>
          <a:xfrm>
            <a:off x="9862867" y="5336876"/>
            <a:ext cx="2104845" cy="12335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JS Libraries and Framework for UI </a:t>
            </a:r>
          </a:p>
          <a:p>
            <a:pPr algn="ctr"/>
            <a:r>
              <a:rPr lang="en-GB" sz="1400" b="1" dirty="0"/>
              <a:t>Bootstrap, </a:t>
            </a:r>
            <a:r>
              <a:rPr lang="en-GB" sz="900" b="1" dirty="0"/>
              <a:t> </a:t>
            </a:r>
            <a:r>
              <a:rPr lang="en-GB" sz="1050" b="1" dirty="0" err="1"/>
              <a:t>JqueryUI</a:t>
            </a:r>
            <a:r>
              <a:rPr lang="en-GB" sz="1050" b="1" dirty="0"/>
              <a:t>, etc</a:t>
            </a:r>
            <a:endParaRPr lang="en-US" sz="900" b="1" dirty="0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BBC7F88D-8CA9-75C6-CB3F-481C91AB35AA}"/>
              </a:ext>
            </a:extLst>
          </p:cNvPr>
          <p:cNvCxnSpPr>
            <a:cxnSpLocks/>
            <a:stCxn id="2" idx="0"/>
            <a:endCxn id="12" idx="0"/>
          </p:cNvCxnSpPr>
          <p:nvPr/>
        </p:nvCxnSpPr>
        <p:spPr>
          <a:xfrm>
            <a:off x="7634377" y="3260785"/>
            <a:ext cx="3280913" cy="207609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94162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87D72BE-FD4B-E7E9-C79D-D267367275DA}"/>
              </a:ext>
            </a:extLst>
          </p:cNvPr>
          <p:cNvSpPr/>
          <p:nvPr/>
        </p:nvSpPr>
        <p:spPr>
          <a:xfrm>
            <a:off x="370936" y="327804"/>
            <a:ext cx="11248845" cy="602986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74FBBB0-E280-9D4F-93AD-98BE3B2BCBC7}"/>
              </a:ext>
            </a:extLst>
          </p:cNvPr>
          <p:cNvSpPr/>
          <p:nvPr/>
        </p:nvSpPr>
        <p:spPr>
          <a:xfrm>
            <a:off x="5978106" y="327804"/>
            <a:ext cx="414068" cy="602986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AA93670-7104-30E8-524F-33EF3C46B33F}"/>
              </a:ext>
            </a:extLst>
          </p:cNvPr>
          <p:cNvSpPr/>
          <p:nvPr/>
        </p:nvSpPr>
        <p:spPr>
          <a:xfrm>
            <a:off x="370936" y="2872596"/>
            <a:ext cx="11335109" cy="556404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5956A0C-E5DE-BB9F-A8AD-ED6DC5520949}"/>
              </a:ext>
            </a:extLst>
          </p:cNvPr>
          <p:cNvSpPr txBox="1"/>
          <p:nvPr/>
        </p:nvSpPr>
        <p:spPr>
          <a:xfrm>
            <a:off x="448574" y="439947"/>
            <a:ext cx="52966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1. Static DOM, the HTML elements those are responsible for End-User Interaction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6A96B1-048C-C47D-382D-CA75DED217E9}"/>
              </a:ext>
            </a:extLst>
          </p:cNvPr>
          <p:cNvSpPr txBox="1"/>
          <p:nvPr/>
        </p:nvSpPr>
        <p:spPr>
          <a:xfrm>
            <a:off x="6642340" y="508958"/>
            <a:ext cx="4606505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2. The JavaScript Object Model (JSOM)</a:t>
            </a:r>
          </a:p>
          <a:p>
            <a:endParaRPr lang="en-GB" sz="1200" dirty="0"/>
          </a:p>
          <a:p>
            <a:pPr marL="285750" indent="-285750">
              <a:buFontTx/>
              <a:buChar char="-"/>
            </a:pPr>
            <a:r>
              <a:rPr lang="en-GB" sz="1200" dirty="0"/>
              <a:t>Properties</a:t>
            </a:r>
          </a:p>
          <a:p>
            <a:pPr marL="285750" indent="-285750">
              <a:buFontTx/>
              <a:buChar char="-"/>
            </a:pPr>
            <a:r>
              <a:rPr lang="en-GB" sz="1200" dirty="0"/>
              <a:t>Events</a:t>
            </a:r>
          </a:p>
          <a:p>
            <a:pPr marL="285750" indent="-285750">
              <a:buFontTx/>
              <a:buChar char="-"/>
            </a:pPr>
            <a:r>
              <a:rPr lang="en-GB" sz="1200" dirty="0"/>
              <a:t>Objects</a:t>
            </a:r>
          </a:p>
          <a:p>
            <a:pPr marL="742950" lvl="1" indent="-285750">
              <a:buFontTx/>
              <a:buChar char="-"/>
            </a:pPr>
            <a:r>
              <a:rPr lang="en-GB" sz="1200" dirty="0"/>
              <a:t>String</a:t>
            </a:r>
          </a:p>
          <a:p>
            <a:pPr marL="742950" lvl="1" indent="-285750">
              <a:buFontTx/>
              <a:buChar char="-"/>
            </a:pPr>
            <a:r>
              <a:rPr lang="en-GB" sz="1200" dirty="0"/>
              <a:t>Array</a:t>
            </a:r>
          </a:p>
          <a:p>
            <a:pPr marL="742950" lvl="1" indent="-285750">
              <a:buFontTx/>
              <a:buChar char="-"/>
            </a:pPr>
            <a:r>
              <a:rPr lang="en-GB" sz="1200" dirty="0"/>
              <a:t>Date</a:t>
            </a:r>
          </a:p>
          <a:p>
            <a:pPr marL="285750" indent="-285750">
              <a:buFontTx/>
              <a:buChar char="-"/>
            </a:pPr>
            <a:r>
              <a:rPr lang="en-US" sz="1200" dirty="0"/>
              <a:t>Methods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1779CDF4-C400-497D-CBD2-16DC1C9CC3A6}"/>
              </a:ext>
            </a:extLst>
          </p:cNvPr>
          <p:cNvSpPr/>
          <p:nvPr/>
        </p:nvSpPr>
        <p:spPr>
          <a:xfrm>
            <a:off x="5624423" y="1397479"/>
            <a:ext cx="1017917" cy="4658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5F29A35-FCD8-6683-E67B-8EC9B169D0D2}"/>
              </a:ext>
            </a:extLst>
          </p:cNvPr>
          <p:cNvSpPr txBox="1"/>
          <p:nvPr/>
        </p:nvSpPr>
        <p:spPr>
          <a:xfrm>
            <a:off x="552091" y="3614468"/>
            <a:ext cx="5262113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3. HTML 5 Object Model APIs</a:t>
            </a:r>
          </a:p>
          <a:p>
            <a:endParaRPr lang="en-GB" sz="1200" dirty="0"/>
          </a:p>
          <a:p>
            <a:pPr marL="171450" indent="-171450">
              <a:buFontTx/>
              <a:buChar char="-"/>
            </a:pPr>
            <a:r>
              <a:rPr lang="en-GB" sz="1200" dirty="0"/>
              <a:t>Drag-Drop</a:t>
            </a:r>
          </a:p>
          <a:p>
            <a:pPr marL="171450" indent="-171450">
              <a:buFontTx/>
              <a:buChar char="-"/>
            </a:pPr>
            <a:r>
              <a:rPr lang="en-GB" sz="1200" dirty="0"/>
              <a:t>Canvas for Pixel Based Graphics</a:t>
            </a:r>
          </a:p>
          <a:p>
            <a:pPr marL="171450" indent="-171450">
              <a:buFontTx/>
              <a:buChar char="-"/>
            </a:pPr>
            <a:r>
              <a:rPr lang="en-GB" sz="1200" dirty="0"/>
              <a:t>Scalable Vector Graphics (SVG)</a:t>
            </a:r>
          </a:p>
          <a:p>
            <a:pPr marL="171450" indent="-171450">
              <a:buFontTx/>
              <a:buChar char="-"/>
            </a:pPr>
            <a:r>
              <a:rPr lang="en-GB" sz="1200" dirty="0"/>
              <a:t>File</a:t>
            </a:r>
          </a:p>
          <a:p>
            <a:pPr marL="171450" indent="-171450">
              <a:buFontTx/>
              <a:buChar char="-"/>
            </a:pPr>
            <a:r>
              <a:rPr lang="en-GB" sz="1200" dirty="0"/>
              <a:t>Device</a:t>
            </a:r>
          </a:p>
          <a:p>
            <a:pPr marL="171450" indent="-171450">
              <a:buFontTx/>
              <a:buChar char="-"/>
            </a:pPr>
            <a:r>
              <a:rPr lang="en-GB" sz="1200" dirty="0"/>
              <a:t>Geolocation</a:t>
            </a:r>
          </a:p>
          <a:p>
            <a:pPr marL="171450" indent="-171450">
              <a:buFontTx/>
              <a:buChar char="-"/>
            </a:pPr>
            <a:r>
              <a:rPr lang="en-GB" sz="1200" dirty="0"/>
              <a:t>Camera</a:t>
            </a:r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AD9B04D9-E17C-FAD5-6AE5-E9523981D780}"/>
              </a:ext>
            </a:extLst>
          </p:cNvPr>
          <p:cNvCxnSpPr>
            <a:stCxn id="6" idx="2"/>
            <a:endCxn id="8" idx="0"/>
          </p:cNvCxnSpPr>
          <p:nvPr/>
        </p:nvCxnSpPr>
        <p:spPr>
          <a:xfrm rot="5400000">
            <a:off x="5388779" y="57654"/>
            <a:ext cx="1351184" cy="5762445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0380980-16A1-4853-E84A-C0EACF57B0CE}"/>
              </a:ext>
            </a:extLst>
          </p:cNvPr>
          <p:cNvSpPr txBox="1"/>
          <p:nvPr/>
        </p:nvSpPr>
        <p:spPr>
          <a:xfrm>
            <a:off x="6642340" y="3614468"/>
            <a:ext cx="460650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4. Network Calls</a:t>
            </a:r>
          </a:p>
          <a:p>
            <a:pPr marL="285750" indent="-285750">
              <a:buFontTx/>
              <a:buChar char="-"/>
            </a:pPr>
            <a:r>
              <a:rPr lang="en-GB" dirty="0"/>
              <a:t>Http</a:t>
            </a:r>
          </a:p>
          <a:p>
            <a:pPr marL="285750" indent="-285750">
              <a:buFontTx/>
              <a:buChar char="-"/>
            </a:pPr>
            <a:r>
              <a:rPr lang="en-GB" dirty="0"/>
              <a:t>Sockets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22723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931855A-C288-2266-415A-B0C11D2B0B79}"/>
              </a:ext>
            </a:extLst>
          </p:cNvPr>
          <p:cNvSpPr/>
          <p:nvPr/>
        </p:nvSpPr>
        <p:spPr>
          <a:xfrm>
            <a:off x="7659757" y="530087"/>
            <a:ext cx="2902226" cy="5499652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Web Server</a:t>
            </a:r>
          </a:p>
          <a:p>
            <a:pPr algn="ctr"/>
            <a:r>
              <a:rPr lang="en-US" b="1" dirty="0"/>
              <a:t>IIS / Nginx / Apache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6CD5C2-444E-F589-C6DE-BEEFB6C51EF5}"/>
              </a:ext>
            </a:extLst>
          </p:cNvPr>
          <p:cNvSpPr/>
          <p:nvPr/>
        </p:nvSpPr>
        <p:spPr>
          <a:xfrm>
            <a:off x="7761767" y="1626781"/>
            <a:ext cx="2743200" cy="5528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Request Listener / Interceptor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3DF438-8808-6E8E-9BED-3D1ABC720EFB}"/>
              </a:ext>
            </a:extLst>
          </p:cNvPr>
          <p:cNvSpPr/>
          <p:nvPr/>
        </p:nvSpPr>
        <p:spPr>
          <a:xfrm>
            <a:off x="7761768" y="2456121"/>
            <a:ext cx="2743200" cy="2328530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666831-C3DA-BC05-675B-615BD078EC5D}"/>
              </a:ext>
            </a:extLst>
          </p:cNvPr>
          <p:cNvSpPr/>
          <p:nvPr/>
        </p:nvSpPr>
        <p:spPr>
          <a:xfrm>
            <a:off x="7878726" y="2791045"/>
            <a:ext cx="2530549" cy="6379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Application Layer</a:t>
            </a:r>
          </a:p>
          <a:p>
            <a:pPr algn="ctr"/>
            <a:r>
              <a:rPr lang="en-US" b="1" dirty="0"/>
              <a:t>Business WF / Domain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D21BC70-3EA1-60FE-236F-41418A744327}"/>
              </a:ext>
            </a:extLst>
          </p:cNvPr>
          <p:cNvSpPr/>
          <p:nvPr/>
        </p:nvSpPr>
        <p:spPr>
          <a:xfrm>
            <a:off x="7878726" y="4008474"/>
            <a:ext cx="2519916" cy="5741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Data Access Layer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3496C4-08CD-CCE0-D6EF-4DD6D9ABAEE5}"/>
              </a:ext>
            </a:extLst>
          </p:cNvPr>
          <p:cNvSpPr/>
          <p:nvPr/>
        </p:nvSpPr>
        <p:spPr>
          <a:xfrm>
            <a:off x="7761767" y="4986670"/>
            <a:ext cx="2658140" cy="83997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Application Runtime</a:t>
            </a:r>
          </a:p>
          <a:p>
            <a:pPr algn="ctr"/>
            <a:r>
              <a:rPr lang="en-US" b="1" dirty="0"/>
              <a:t>Node.js,  .NET Core, JR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0108D9-B338-D05F-D6C7-F15E7391EA3E}"/>
              </a:ext>
            </a:extLst>
          </p:cNvPr>
          <p:cNvSpPr/>
          <p:nvPr/>
        </p:nvSpPr>
        <p:spPr>
          <a:xfrm>
            <a:off x="255182" y="1765004"/>
            <a:ext cx="2573079" cy="253054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Browser</a:t>
            </a:r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D415AAF-D321-8CBA-9A62-D159550BB184}"/>
              </a:ext>
            </a:extLst>
          </p:cNvPr>
          <p:cNvSpPr/>
          <p:nvPr/>
        </p:nvSpPr>
        <p:spPr>
          <a:xfrm>
            <a:off x="255182" y="3428999"/>
            <a:ext cx="2573079" cy="643270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HTML DOM, JS, CSS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4AD26FC-EFA5-2648-D8F8-8A2A95E88D49}"/>
              </a:ext>
            </a:extLst>
          </p:cNvPr>
          <p:cNvSpPr/>
          <p:nvPr/>
        </p:nvSpPr>
        <p:spPr>
          <a:xfrm>
            <a:off x="3270668" y="4784651"/>
            <a:ext cx="2892056" cy="1892595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Front-End App</a:t>
            </a:r>
          </a:p>
          <a:p>
            <a:pPr algn="ctr"/>
            <a:r>
              <a:rPr lang="en-US" b="1" dirty="0"/>
              <a:t>HTML, CSS, JS</a:t>
            </a:r>
          </a:p>
          <a:p>
            <a:pPr algn="ctr"/>
            <a:endParaRPr lang="en-US" b="1" dirty="0"/>
          </a:p>
          <a:p>
            <a:pPr algn="ctr"/>
            <a:r>
              <a:rPr lang="en-US" b="1" dirty="0"/>
              <a:t>React, Angular, Vue, etc.</a:t>
            </a:r>
          </a:p>
        </p:txBody>
      </p:sp>
      <p:cxnSp>
        <p:nvCxnSpPr>
          <p:cNvPr id="12" name="Elbow Connector 11">
            <a:extLst>
              <a:ext uri="{FF2B5EF4-FFF2-40B4-BE49-F238E27FC236}">
                <a16:creationId xmlns:a16="http://schemas.microsoft.com/office/drawing/2014/main" id="{0A1C8D61-331E-9FB0-1CDC-3A2AD7F1FE9B}"/>
              </a:ext>
            </a:extLst>
          </p:cNvPr>
          <p:cNvCxnSpPr>
            <a:stCxn id="11" idx="2"/>
            <a:endCxn id="2" idx="1"/>
          </p:cNvCxnSpPr>
          <p:nvPr/>
        </p:nvCxnSpPr>
        <p:spPr>
          <a:xfrm rot="16200000" flipH="1">
            <a:off x="1688497" y="4148778"/>
            <a:ext cx="1435396" cy="172894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>
            <a:extLst>
              <a:ext uri="{FF2B5EF4-FFF2-40B4-BE49-F238E27FC236}">
                <a16:creationId xmlns:a16="http://schemas.microsoft.com/office/drawing/2014/main" id="{E35A3520-DF97-F4C3-EC35-07A47CB099D6}"/>
              </a:ext>
            </a:extLst>
          </p:cNvPr>
          <p:cNvCxnSpPr>
            <a:stCxn id="2" idx="0"/>
            <a:endCxn id="22" idx="3"/>
          </p:cNvCxnSpPr>
          <p:nvPr/>
        </p:nvCxnSpPr>
        <p:spPr>
          <a:xfrm rot="16200000" flipV="1">
            <a:off x="3255471" y="3323425"/>
            <a:ext cx="1034017" cy="1888435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A7DF36F9-24AB-1916-7946-47F6763C63FA}"/>
              </a:ext>
            </a:extLst>
          </p:cNvPr>
          <p:cNvSpPr/>
          <p:nvPr/>
        </p:nvSpPr>
        <p:spPr>
          <a:xfrm>
            <a:off x="361507" y="2317898"/>
            <a:ext cx="2349795" cy="9620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HTML DOM UI</a:t>
            </a:r>
          </a:p>
        </p:txBody>
      </p:sp>
      <p:sp>
        <p:nvSpPr>
          <p:cNvPr id="18" name="Up-down Arrow 17">
            <a:extLst>
              <a:ext uri="{FF2B5EF4-FFF2-40B4-BE49-F238E27FC236}">
                <a16:creationId xmlns:a16="http://schemas.microsoft.com/office/drawing/2014/main" id="{239595A4-2E35-329D-FD39-AA6E325F6FD4}"/>
              </a:ext>
            </a:extLst>
          </p:cNvPr>
          <p:cNvSpPr/>
          <p:nvPr/>
        </p:nvSpPr>
        <p:spPr>
          <a:xfrm>
            <a:off x="1275907" y="3205715"/>
            <a:ext cx="265814" cy="414671"/>
          </a:xfrm>
          <a:prstGeom prst="up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E563F75C-0DDD-AEDB-3C5B-B4769129507C}"/>
              </a:ext>
            </a:extLst>
          </p:cNvPr>
          <p:cNvCxnSpPr>
            <a:stCxn id="11" idx="0"/>
            <a:endCxn id="5" idx="1"/>
          </p:cNvCxnSpPr>
          <p:nvPr/>
        </p:nvCxnSpPr>
        <p:spPr>
          <a:xfrm rot="16200000" flipH="1">
            <a:off x="4582632" y="-1275906"/>
            <a:ext cx="138224" cy="6220045"/>
          </a:xfrm>
          <a:prstGeom prst="bentConnector4">
            <a:avLst>
              <a:gd name="adj1" fmla="val -165384"/>
              <a:gd name="adj2" fmla="val 60342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2E51B66F-0F96-ED11-E755-980848B9F8B3}"/>
              </a:ext>
            </a:extLst>
          </p:cNvPr>
          <p:cNvSpPr txBox="1"/>
          <p:nvPr/>
        </p:nvSpPr>
        <p:spPr>
          <a:xfrm>
            <a:off x="4157330" y="882502"/>
            <a:ext cx="2232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 for Read Data or Write Data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7338AF2-1D44-B470-0357-31A0EF60FB10}"/>
              </a:ext>
            </a:extLst>
          </p:cNvPr>
          <p:cNvSpPr txBox="1"/>
          <p:nvPr/>
        </p:nvSpPr>
        <p:spPr>
          <a:xfrm>
            <a:off x="816628" y="5080338"/>
            <a:ext cx="22328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Request for Application UI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EB9D5C8-59CB-D319-09BC-855B625F67DC}"/>
              </a:ext>
            </a:extLst>
          </p:cNvPr>
          <p:cNvSpPr txBox="1"/>
          <p:nvPr/>
        </p:nvSpPr>
        <p:spPr>
          <a:xfrm>
            <a:off x="3651282" y="4086043"/>
            <a:ext cx="223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 with UI</a:t>
            </a:r>
          </a:p>
        </p:txBody>
      </p:sp>
      <p:cxnSp>
        <p:nvCxnSpPr>
          <p:cNvPr id="26" name="Elbow Connector 25">
            <a:extLst>
              <a:ext uri="{FF2B5EF4-FFF2-40B4-BE49-F238E27FC236}">
                <a16:creationId xmlns:a16="http://schemas.microsoft.com/office/drawing/2014/main" id="{9CF2BC40-5175-4A96-C490-94F73569D645}"/>
              </a:ext>
            </a:extLst>
          </p:cNvPr>
          <p:cNvCxnSpPr>
            <a:stCxn id="8" idx="1"/>
            <a:endCxn id="11" idx="3"/>
          </p:cNvCxnSpPr>
          <p:nvPr/>
        </p:nvCxnSpPr>
        <p:spPr>
          <a:xfrm rot="10800000">
            <a:off x="2828262" y="3030280"/>
            <a:ext cx="5050465" cy="7974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9818E6A-F8BB-E9C7-6B1A-2929CD889A2C}"/>
              </a:ext>
            </a:extLst>
          </p:cNvPr>
          <p:cNvSpPr txBox="1"/>
          <p:nvPr/>
        </p:nvSpPr>
        <p:spPr>
          <a:xfrm>
            <a:off x="3955390" y="2567914"/>
            <a:ext cx="22328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Response of the  Data</a:t>
            </a:r>
          </a:p>
        </p:txBody>
      </p:sp>
      <p:sp>
        <p:nvSpPr>
          <p:cNvPr id="28" name="Can 27">
            <a:extLst>
              <a:ext uri="{FF2B5EF4-FFF2-40B4-BE49-F238E27FC236}">
                <a16:creationId xmlns:a16="http://schemas.microsoft.com/office/drawing/2014/main" id="{436E627A-7870-7CB7-2865-17973CA478FB}"/>
              </a:ext>
            </a:extLst>
          </p:cNvPr>
          <p:cNvSpPr/>
          <p:nvPr/>
        </p:nvSpPr>
        <p:spPr>
          <a:xfrm>
            <a:off x="10770781" y="2798905"/>
            <a:ext cx="1169582" cy="61414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SQL</a:t>
            </a:r>
          </a:p>
        </p:txBody>
      </p:sp>
      <p:sp>
        <p:nvSpPr>
          <p:cNvPr id="29" name="Can 28">
            <a:extLst>
              <a:ext uri="{FF2B5EF4-FFF2-40B4-BE49-F238E27FC236}">
                <a16:creationId xmlns:a16="http://schemas.microsoft.com/office/drawing/2014/main" id="{B1FB5475-6211-BFAE-0406-7FEDBBE53509}"/>
              </a:ext>
            </a:extLst>
          </p:cNvPr>
          <p:cNvSpPr/>
          <p:nvPr/>
        </p:nvSpPr>
        <p:spPr>
          <a:xfrm>
            <a:off x="10770781" y="3841230"/>
            <a:ext cx="1169582" cy="61414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NoSQL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20B946-0A53-AA1B-819B-53E90952AAFD}"/>
              </a:ext>
            </a:extLst>
          </p:cNvPr>
          <p:cNvSpPr txBox="1"/>
          <p:nvPr/>
        </p:nvSpPr>
        <p:spPr>
          <a:xfrm>
            <a:off x="7272670" y="6294474"/>
            <a:ext cx="401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www.myserverapp.com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84931C8-6352-1162-2DDB-32E75DC7954E}"/>
              </a:ext>
            </a:extLst>
          </p:cNvPr>
          <p:cNvSpPr txBox="1"/>
          <p:nvPr/>
        </p:nvSpPr>
        <p:spPr>
          <a:xfrm>
            <a:off x="151168" y="6294474"/>
            <a:ext cx="40191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www.myfrontednapp.com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A2F868F-0AD6-1664-701F-CA5F0D980E9A}"/>
              </a:ext>
            </a:extLst>
          </p:cNvPr>
          <p:cNvSpPr txBox="1"/>
          <p:nvPr/>
        </p:nvSpPr>
        <p:spPr>
          <a:xfrm>
            <a:off x="0" y="148856"/>
            <a:ext cx="4933507" cy="3812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FullStack</a:t>
            </a:r>
          </a:p>
        </p:txBody>
      </p:sp>
    </p:spTree>
    <p:extLst>
      <p:ext uri="{BB962C8B-B14F-4D97-AF65-F5344CB8AC3E}">
        <p14:creationId xmlns:p14="http://schemas.microsoft.com/office/powerpoint/2010/main" val="3996915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A35D14-809B-7474-7041-266B02605452}"/>
              </a:ext>
            </a:extLst>
          </p:cNvPr>
          <p:cNvSpPr txBox="1"/>
          <p:nvPr/>
        </p:nvSpPr>
        <p:spPr>
          <a:xfrm>
            <a:off x="2743200" y="1009291"/>
            <a:ext cx="7134045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4000" b="1" dirty="0"/>
              <a:t> UX</a:t>
            </a:r>
          </a:p>
          <a:p>
            <a:pPr algn="ctr"/>
            <a:r>
              <a:rPr lang="en-GB" sz="4000" b="1" dirty="0"/>
              <a:t>The User Experience</a:t>
            </a:r>
          </a:p>
          <a:p>
            <a:pPr algn="ctr"/>
            <a:r>
              <a:rPr lang="en-GB" sz="4000" b="1" dirty="0"/>
              <a:t>e.g. UI Generation, Event Handling, Data Update, UI generation based on Data, Navigation across Pages, Reusable UI Components, etc.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851642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F0E530-89B8-909B-082E-5BF1D6B9AD4D}"/>
              </a:ext>
            </a:extLst>
          </p:cNvPr>
          <p:cNvSpPr txBox="1"/>
          <p:nvPr/>
        </p:nvSpPr>
        <p:spPr>
          <a:xfrm>
            <a:off x="260059" y="176169"/>
            <a:ext cx="11618752" cy="313932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dirty="0"/>
              <a:t>The Features offering from the JS Lib/</a:t>
            </a:r>
            <a:r>
              <a:rPr lang="en-GB" dirty="0" err="1"/>
              <a:t>Frwk</a:t>
            </a:r>
            <a:r>
              <a:rPr lang="en-GB" dirty="0"/>
              <a:t> for the requirements</a:t>
            </a:r>
          </a:p>
          <a:p>
            <a:pPr marL="800100" lvl="1" indent="-342900">
              <a:buAutoNum type="arabicPeriod"/>
            </a:pPr>
            <a:r>
              <a:rPr lang="en-GB" dirty="0"/>
              <a:t>Rich UX with the UI reusability as well as the Rapid Data Updated w/o any boilerplate code</a:t>
            </a:r>
          </a:p>
          <a:p>
            <a:pPr marL="342900" indent="-342900">
              <a:buAutoNum type="arabicPeriod"/>
            </a:pPr>
            <a:r>
              <a:rPr lang="en-GB" dirty="0"/>
              <a:t>What is lifetime of the JS Lib/</a:t>
            </a:r>
            <a:r>
              <a:rPr lang="en-GB" dirty="0" err="1"/>
              <a:t>Frwk</a:t>
            </a:r>
            <a:r>
              <a:rPr lang="en-GB" dirty="0"/>
              <a:t> and its Live Support? </a:t>
            </a:r>
          </a:p>
          <a:p>
            <a:pPr marL="800100" lvl="1" indent="-342900">
              <a:buAutoNum type="arabicPeriod"/>
            </a:pPr>
            <a:r>
              <a:rPr lang="en-US" dirty="0"/>
              <a:t>Its consistent use in Industry across various Domains</a:t>
            </a:r>
          </a:p>
          <a:p>
            <a:pPr marL="800100" lvl="1" indent="-342900">
              <a:buAutoNum type="arabicPeriod"/>
            </a:pPr>
            <a:r>
              <a:rPr lang="en-US" dirty="0"/>
              <a:t>Its Community, this is for support</a:t>
            </a:r>
          </a:p>
          <a:p>
            <a:pPr marL="800100" lvl="1" indent="-342900">
              <a:buAutoNum type="arabicPeriod"/>
            </a:pPr>
            <a:r>
              <a:rPr lang="en-US" dirty="0"/>
              <a:t>Version Updates Speed with new features</a:t>
            </a:r>
          </a:p>
          <a:p>
            <a:pPr marL="342900" indent="-342900">
              <a:buAutoNum type="arabicPeriod"/>
            </a:pPr>
            <a:r>
              <a:rPr lang="en-US" dirty="0"/>
              <a:t>Ease of Learning</a:t>
            </a:r>
          </a:p>
          <a:p>
            <a:pPr marL="800100" lvl="1" indent="-342900">
              <a:buAutoNum type="arabicPeriod"/>
            </a:pPr>
            <a:r>
              <a:rPr lang="en-US" dirty="0"/>
              <a:t>Complexity of the Object Model</a:t>
            </a:r>
          </a:p>
          <a:p>
            <a:pPr marL="800100" lvl="1" indent="-342900">
              <a:buAutoNum type="arabicPeriod"/>
            </a:pPr>
            <a:r>
              <a:rPr lang="en-US" dirty="0"/>
              <a:t>Syntaxes  to learning Basic Fundamentals</a:t>
            </a:r>
          </a:p>
          <a:p>
            <a:pPr marL="800100" lvl="1" indent="-342900">
              <a:buAutoNum type="arabicPeriod"/>
            </a:pPr>
            <a:r>
              <a:rPr lang="en-US" dirty="0"/>
              <a:t>How fast we can start using it for the application</a:t>
            </a:r>
          </a:p>
          <a:p>
            <a:pPr marL="342900" indent="-342900">
              <a:buAutoNum type="arabicPeriod"/>
            </a:pPr>
            <a:r>
              <a:rPr lang="en-US" dirty="0"/>
              <a:t>What is the availability of Professionals in the Market</a:t>
            </a:r>
          </a:p>
        </p:txBody>
      </p:sp>
    </p:spTree>
    <p:extLst>
      <p:ext uri="{BB962C8B-B14F-4D97-AF65-F5344CB8AC3E}">
        <p14:creationId xmlns:p14="http://schemas.microsoft.com/office/powerpoint/2010/main" val="11590433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695DB6-AD40-FFA0-F496-9C948694FED1}"/>
              </a:ext>
            </a:extLst>
          </p:cNvPr>
          <p:cNvSpPr/>
          <p:nvPr/>
        </p:nvSpPr>
        <p:spPr>
          <a:xfrm>
            <a:off x="947956" y="478172"/>
            <a:ext cx="10175846" cy="584712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0DF381-3112-AE8A-4E7E-BB47D41B3B2A}"/>
              </a:ext>
            </a:extLst>
          </p:cNvPr>
          <p:cNvSpPr txBox="1"/>
          <p:nvPr/>
        </p:nvSpPr>
        <p:spPr>
          <a:xfrm>
            <a:off x="1098958" y="620785"/>
            <a:ext cx="3003259" cy="3691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Parent, mounted on DOM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A913B9-E891-F367-D33A-BFDDC4AC1A89}"/>
              </a:ext>
            </a:extLst>
          </p:cNvPr>
          <p:cNvSpPr/>
          <p:nvPr/>
        </p:nvSpPr>
        <p:spPr>
          <a:xfrm>
            <a:off x="1551963" y="1426128"/>
            <a:ext cx="8657439" cy="4588778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930520-B180-7C16-9EE3-CA1AD8ED5570}"/>
              </a:ext>
            </a:extLst>
          </p:cNvPr>
          <p:cNvSpPr txBox="1"/>
          <p:nvPr/>
        </p:nvSpPr>
        <p:spPr>
          <a:xfrm>
            <a:off x="4764947" y="1501629"/>
            <a:ext cx="2743200" cy="369332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Component</a:t>
            </a:r>
            <a:endParaRPr lang="en-US" b="1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FD7E20E-DDB7-B016-DFB2-4CE7388226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953923"/>
              </p:ext>
            </p:extLst>
          </p:nvPr>
        </p:nvGraphicFramePr>
        <p:xfrm>
          <a:off x="1816682" y="2080470"/>
          <a:ext cx="4064000" cy="11092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52999195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390783353"/>
                    </a:ext>
                  </a:extLst>
                </a:gridCol>
              </a:tblGrid>
              <a:tr h="367607">
                <a:tc>
                  <a:txBody>
                    <a:bodyPr/>
                    <a:lstStyle/>
                    <a:p>
                      <a:r>
                        <a:rPr lang="en-GB" sz="1600" baseline="-25000" dirty="0"/>
                        <a:t>State Property</a:t>
                      </a:r>
                      <a:endParaRPr lang="en-US" sz="1600" baseline="-25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baseline="-25000" dirty="0"/>
                        <a:t>Action Causing State Updates</a:t>
                      </a:r>
                      <a:endParaRPr lang="en-US" sz="1600" baseline="-25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2383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name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setName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0445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address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err="1"/>
                        <a:t>setAddress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8369630"/>
                  </a:ext>
                </a:extLst>
              </a:tr>
            </a:tbl>
          </a:graphicData>
        </a:graphic>
      </p:graphicFrame>
      <p:sp>
        <p:nvSpPr>
          <p:cNvPr id="8" name="Rectangle: Top Corners Snipped 7">
            <a:extLst>
              <a:ext uri="{FF2B5EF4-FFF2-40B4-BE49-F238E27FC236}">
                <a16:creationId xmlns:a16="http://schemas.microsoft.com/office/drawing/2014/main" id="{D6B32FB7-2FDF-5376-11BA-4878AEB8AC9A}"/>
              </a:ext>
            </a:extLst>
          </p:cNvPr>
          <p:cNvSpPr/>
          <p:nvPr/>
        </p:nvSpPr>
        <p:spPr>
          <a:xfrm>
            <a:off x="7021585" y="2239861"/>
            <a:ext cx="1929468" cy="1040234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Behaviour to update the state</a:t>
            </a:r>
            <a:endParaRPr lang="en-US" dirty="0"/>
          </a:p>
        </p:txBody>
      </p:sp>
      <p:sp>
        <p:nvSpPr>
          <p:cNvPr id="9" name="Lightning Bolt 8">
            <a:extLst>
              <a:ext uri="{FF2B5EF4-FFF2-40B4-BE49-F238E27FC236}">
                <a16:creationId xmlns:a16="http://schemas.microsoft.com/office/drawing/2014/main" id="{45540FC6-C4C0-7620-5A8F-B7219C7B96E4}"/>
              </a:ext>
            </a:extLst>
          </p:cNvPr>
          <p:cNvSpPr/>
          <p:nvPr/>
        </p:nvSpPr>
        <p:spPr>
          <a:xfrm>
            <a:off x="8388991" y="2080470"/>
            <a:ext cx="1065402" cy="713064"/>
          </a:xfrm>
          <a:prstGeom prst="lightningBol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3D40F12F-B4B9-B679-92D1-BB046BF2F52C}"/>
              </a:ext>
            </a:extLst>
          </p:cNvPr>
          <p:cNvCxnSpPr>
            <a:endCxn id="7" idx="0"/>
          </p:cNvCxnSpPr>
          <p:nvPr/>
        </p:nvCxnSpPr>
        <p:spPr>
          <a:xfrm rot="10800000">
            <a:off x="3848683" y="2080470"/>
            <a:ext cx="3172903" cy="713064"/>
          </a:xfrm>
          <a:prstGeom prst="curvedConnector4">
            <a:avLst>
              <a:gd name="adj1" fmla="val 17979"/>
              <a:gd name="adj2" fmla="val 13205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: Top Corners Rounded 11">
            <a:extLst>
              <a:ext uri="{FF2B5EF4-FFF2-40B4-BE49-F238E27FC236}">
                <a16:creationId xmlns:a16="http://schemas.microsoft.com/office/drawing/2014/main" id="{BD547FBE-DE36-7158-2987-1D38F944C373}"/>
              </a:ext>
            </a:extLst>
          </p:cNvPr>
          <p:cNvSpPr/>
          <p:nvPr/>
        </p:nvSpPr>
        <p:spPr>
          <a:xfrm>
            <a:off x="2231472" y="3875714"/>
            <a:ext cx="6719581" cy="1556158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b="1" dirty="0"/>
              <a:t>User Interface</a:t>
            </a:r>
            <a:endParaRPr lang="en-US" sz="3200" b="1" dirty="0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B2928AEE-01C4-A20F-AA4C-ED0A1F3882BA}"/>
              </a:ext>
            </a:extLst>
          </p:cNvPr>
          <p:cNvCxnSpPr>
            <a:cxnSpLocks/>
            <a:stCxn id="7" idx="2"/>
            <a:endCxn id="12" idx="3"/>
          </p:cNvCxnSpPr>
          <p:nvPr/>
        </p:nvCxnSpPr>
        <p:spPr>
          <a:xfrm rot="16200000" flipH="1">
            <a:off x="4376994" y="2661444"/>
            <a:ext cx="685957" cy="1742581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23889B1-3DEF-5145-058A-E7C5AD42D70D}"/>
              </a:ext>
            </a:extLst>
          </p:cNvPr>
          <p:cNvSpPr txBox="1"/>
          <p:nvPr/>
        </p:nvSpPr>
        <p:spPr>
          <a:xfrm>
            <a:off x="3624044" y="3347207"/>
            <a:ext cx="2155971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b="1" dirty="0"/>
              <a:t>Bound with State</a:t>
            </a:r>
            <a:endParaRPr lang="en-US" sz="1100" b="1" dirty="0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FEFFB4D5-00E4-D081-2720-C479ADD0ADBF}"/>
              </a:ext>
            </a:extLst>
          </p:cNvPr>
          <p:cNvCxnSpPr>
            <a:stCxn id="12" idx="3"/>
            <a:endCxn id="8" idx="1"/>
          </p:cNvCxnSpPr>
          <p:nvPr/>
        </p:nvCxnSpPr>
        <p:spPr>
          <a:xfrm rot="5400000" flipH="1" flipV="1">
            <a:off x="6490982" y="2380377"/>
            <a:ext cx="595619" cy="239505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A33D3C76-E72C-7E21-A440-CA958A0B4F0D}"/>
              </a:ext>
            </a:extLst>
          </p:cNvPr>
          <p:cNvSpPr txBox="1"/>
          <p:nvPr/>
        </p:nvSpPr>
        <p:spPr>
          <a:xfrm>
            <a:off x="6384022" y="3447876"/>
            <a:ext cx="3568117" cy="430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b="1" dirty="0"/>
              <a:t>Bound to </a:t>
            </a:r>
            <a:r>
              <a:rPr lang="en-GB" sz="1100" b="1" dirty="0" err="1"/>
              <a:t>Behavior</a:t>
            </a:r>
            <a:r>
              <a:rPr lang="en-GB" sz="1100" b="1" dirty="0"/>
              <a:t> using UI events that causes the state Updates</a:t>
            </a:r>
            <a:endParaRPr lang="en-US" sz="1100" b="1" dirty="0"/>
          </a:p>
        </p:txBody>
      </p:sp>
    </p:spTree>
    <p:extLst>
      <p:ext uri="{BB962C8B-B14F-4D97-AF65-F5344CB8AC3E}">
        <p14:creationId xmlns:p14="http://schemas.microsoft.com/office/powerpoint/2010/main" val="4058351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C30EF2A-926D-69CC-906C-187565C1D3C5}"/>
              </a:ext>
            </a:extLst>
          </p:cNvPr>
          <p:cNvSpPr/>
          <p:nvPr/>
        </p:nvSpPr>
        <p:spPr>
          <a:xfrm>
            <a:off x="377505" y="763398"/>
            <a:ext cx="10805020" cy="533539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34B9C1-2D69-90E9-E504-B5D17E74BE66}"/>
              </a:ext>
            </a:extLst>
          </p:cNvPr>
          <p:cNvSpPr txBox="1"/>
          <p:nvPr/>
        </p:nvSpPr>
        <p:spPr>
          <a:xfrm>
            <a:off x="377505" y="260059"/>
            <a:ext cx="39092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Component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1C27A5-2A08-199C-6C51-47DE26122D5B}"/>
              </a:ext>
            </a:extLst>
          </p:cNvPr>
          <p:cNvSpPr/>
          <p:nvPr/>
        </p:nvSpPr>
        <p:spPr>
          <a:xfrm>
            <a:off x="3682767" y="1166070"/>
            <a:ext cx="3867325" cy="478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Text Box 1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8AA1BB-1040-0E8A-1B01-CDDB7169982D}"/>
              </a:ext>
            </a:extLst>
          </p:cNvPr>
          <p:cNvSpPr/>
          <p:nvPr/>
        </p:nvSpPr>
        <p:spPr>
          <a:xfrm>
            <a:off x="3682767" y="1930649"/>
            <a:ext cx="3867325" cy="478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Text Box 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2D6445-4B4B-B7B9-11FC-8A0EE3EA5C3E}"/>
              </a:ext>
            </a:extLst>
          </p:cNvPr>
          <p:cNvSpPr/>
          <p:nvPr/>
        </p:nvSpPr>
        <p:spPr>
          <a:xfrm>
            <a:off x="3682767" y="2704798"/>
            <a:ext cx="3867325" cy="478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Select 1</a:t>
            </a:r>
            <a:endParaRPr lang="en-US" dirty="0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B71D6D3B-03F0-318E-5995-9E6BB6779F3E}"/>
              </a:ext>
            </a:extLst>
          </p:cNvPr>
          <p:cNvSpPr/>
          <p:nvPr/>
        </p:nvSpPr>
        <p:spPr>
          <a:xfrm flipV="1">
            <a:off x="6920918" y="2704798"/>
            <a:ext cx="629174" cy="478172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538E838-CACB-0F85-13E7-B39EA8DB2583}"/>
              </a:ext>
            </a:extLst>
          </p:cNvPr>
          <p:cNvSpPr/>
          <p:nvPr/>
        </p:nvSpPr>
        <p:spPr>
          <a:xfrm>
            <a:off x="3682767" y="3370853"/>
            <a:ext cx="3867325" cy="4781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Select 2</a:t>
            </a:r>
            <a:endParaRPr lang="en-US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932C9081-1BA4-4530-5E8F-9429A718E381}"/>
              </a:ext>
            </a:extLst>
          </p:cNvPr>
          <p:cNvSpPr/>
          <p:nvPr/>
        </p:nvSpPr>
        <p:spPr>
          <a:xfrm flipV="1">
            <a:off x="6920918" y="3370853"/>
            <a:ext cx="629174" cy="478172"/>
          </a:xfrm>
          <a:prstGeom prst="triangl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FE65DC3-748E-84C6-2011-C911B1CE1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4229253"/>
              </p:ext>
            </p:extLst>
          </p:nvPr>
        </p:nvGraphicFramePr>
        <p:xfrm>
          <a:off x="580706" y="4335321"/>
          <a:ext cx="455335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786">
                  <a:extLst>
                    <a:ext uri="{9D8B030D-6E8A-4147-A177-3AD203B41FA5}">
                      <a16:colId xmlns:a16="http://schemas.microsoft.com/office/drawing/2014/main" val="3382074196"/>
                    </a:ext>
                  </a:extLst>
                </a:gridCol>
                <a:gridCol w="1517786">
                  <a:extLst>
                    <a:ext uri="{9D8B030D-6E8A-4147-A177-3AD203B41FA5}">
                      <a16:colId xmlns:a16="http://schemas.microsoft.com/office/drawing/2014/main" val="2402862650"/>
                    </a:ext>
                  </a:extLst>
                </a:gridCol>
                <a:gridCol w="1517786">
                  <a:extLst>
                    <a:ext uri="{9D8B030D-6E8A-4147-A177-3AD203B41FA5}">
                      <a16:colId xmlns:a16="http://schemas.microsoft.com/office/drawing/2014/main" val="775269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070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906557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0F3E7D7-3BAE-14A9-D6E9-52FC74D920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3285844"/>
              </p:ext>
            </p:extLst>
          </p:nvPr>
        </p:nvGraphicFramePr>
        <p:xfrm>
          <a:off x="5616429" y="4335321"/>
          <a:ext cx="455335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7786">
                  <a:extLst>
                    <a:ext uri="{9D8B030D-6E8A-4147-A177-3AD203B41FA5}">
                      <a16:colId xmlns:a16="http://schemas.microsoft.com/office/drawing/2014/main" val="3382074196"/>
                    </a:ext>
                  </a:extLst>
                </a:gridCol>
                <a:gridCol w="1517786">
                  <a:extLst>
                    <a:ext uri="{9D8B030D-6E8A-4147-A177-3AD203B41FA5}">
                      <a16:colId xmlns:a16="http://schemas.microsoft.com/office/drawing/2014/main" val="2402862650"/>
                    </a:ext>
                  </a:extLst>
                </a:gridCol>
                <a:gridCol w="1517786">
                  <a:extLst>
                    <a:ext uri="{9D8B030D-6E8A-4147-A177-3AD203B41FA5}">
                      <a16:colId xmlns:a16="http://schemas.microsoft.com/office/drawing/2014/main" val="77526977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30709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906557"/>
                  </a:ext>
                </a:extLst>
              </a:tr>
            </a:tbl>
          </a:graphicData>
        </a:graphic>
      </p:graphicFrame>
      <p:sp>
        <p:nvSpPr>
          <p:cNvPr id="12" name="Right Brace 11">
            <a:extLst>
              <a:ext uri="{FF2B5EF4-FFF2-40B4-BE49-F238E27FC236}">
                <a16:creationId xmlns:a16="http://schemas.microsoft.com/office/drawing/2014/main" id="{0AE682F4-741B-801A-C5C3-142EA42EF113}"/>
              </a:ext>
            </a:extLst>
          </p:cNvPr>
          <p:cNvSpPr/>
          <p:nvPr/>
        </p:nvSpPr>
        <p:spPr>
          <a:xfrm>
            <a:off x="7801761" y="1166070"/>
            <a:ext cx="520118" cy="1242751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881C10-14A6-A6D1-94B3-DEC37BFC4261}"/>
              </a:ext>
            </a:extLst>
          </p:cNvPr>
          <p:cNvSpPr txBox="1"/>
          <p:nvPr/>
        </p:nvSpPr>
        <p:spPr>
          <a:xfrm>
            <a:off x="8464492" y="1484851"/>
            <a:ext cx="2390862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Single State property UI Elements</a:t>
            </a:r>
            <a:endParaRPr lang="en-US" dirty="0"/>
          </a:p>
        </p:txBody>
      </p:sp>
      <p:sp>
        <p:nvSpPr>
          <p:cNvPr id="14" name="Right Brace 13">
            <a:extLst>
              <a:ext uri="{FF2B5EF4-FFF2-40B4-BE49-F238E27FC236}">
                <a16:creationId xmlns:a16="http://schemas.microsoft.com/office/drawing/2014/main" id="{81A6A886-8583-F12A-656C-198595FBD1C3}"/>
              </a:ext>
            </a:extLst>
          </p:cNvPr>
          <p:cNvSpPr/>
          <p:nvPr/>
        </p:nvSpPr>
        <p:spPr>
          <a:xfrm>
            <a:off x="7801761" y="2704798"/>
            <a:ext cx="360727" cy="1144227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BCFB78-DCD6-25B9-B377-69E3DED825C7}"/>
              </a:ext>
            </a:extLst>
          </p:cNvPr>
          <p:cNvSpPr txBox="1"/>
          <p:nvPr/>
        </p:nvSpPr>
        <p:spPr>
          <a:xfrm>
            <a:off x="8221211" y="3053593"/>
            <a:ext cx="263414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Collection data state, with data is different for each Select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16411C-6639-3FF2-E81E-CEADFDC94358}"/>
              </a:ext>
            </a:extLst>
          </p:cNvPr>
          <p:cNvSpPr txBox="1"/>
          <p:nvPr/>
        </p:nvSpPr>
        <p:spPr>
          <a:xfrm>
            <a:off x="680907" y="5183203"/>
            <a:ext cx="927682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Collection data state, with data is different for each Table and probably data will be received from external Data fetch. The Table  may ned to be generated </a:t>
            </a:r>
            <a:r>
              <a:rPr lang="en-GB" dirty="0" err="1"/>
              <a:t>dyna,mically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87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CE1142F-40B9-88B0-BE17-12D499636A42}"/>
              </a:ext>
            </a:extLst>
          </p:cNvPr>
          <p:cNvSpPr txBox="1"/>
          <p:nvPr/>
        </p:nvSpPr>
        <p:spPr>
          <a:xfrm>
            <a:off x="142613" y="268448"/>
            <a:ext cx="11794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Object Mutation</a:t>
            </a:r>
            <a:endParaRPr lang="en-US" b="1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F462908-F19E-518C-DA06-B328C6E74E10}"/>
              </a:ext>
            </a:extLst>
          </p:cNvPr>
          <p:cNvSpPr/>
          <p:nvPr/>
        </p:nvSpPr>
        <p:spPr>
          <a:xfrm>
            <a:off x="746620" y="1493240"/>
            <a:ext cx="2239861" cy="142612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Person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F6A0DD6-5B78-13C6-1F0D-44046B4E6168}"/>
              </a:ext>
            </a:extLst>
          </p:cNvPr>
          <p:cNvSpPr/>
          <p:nvPr/>
        </p:nvSpPr>
        <p:spPr>
          <a:xfrm>
            <a:off x="3288484" y="947956"/>
            <a:ext cx="2063692" cy="5452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Id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DEF4E12-700F-85A2-D04E-511843C9E7FE}"/>
              </a:ext>
            </a:extLst>
          </p:cNvPr>
          <p:cNvSpPr/>
          <p:nvPr/>
        </p:nvSpPr>
        <p:spPr>
          <a:xfrm>
            <a:off x="3288484" y="2883716"/>
            <a:ext cx="2063692" cy="54528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Name</a:t>
            </a:r>
            <a:endParaRPr lang="en-US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E1A4EB44-E844-AE84-1CB7-1C87AE163243}"/>
              </a:ext>
            </a:extLst>
          </p:cNvPr>
          <p:cNvCxnSpPr>
            <a:stCxn id="3" idx="0"/>
            <a:endCxn id="4" idx="1"/>
          </p:cNvCxnSpPr>
          <p:nvPr/>
        </p:nvCxnSpPr>
        <p:spPr>
          <a:xfrm rot="5400000" flipH="1" flipV="1">
            <a:off x="2441196" y="645953"/>
            <a:ext cx="272642" cy="14219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88A54237-CC99-2C9F-B075-B505600F48A3}"/>
              </a:ext>
            </a:extLst>
          </p:cNvPr>
          <p:cNvCxnSpPr>
            <a:stCxn id="3" idx="4"/>
            <a:endCxn id="5" idx="1"/>
          </p:cNvCxnSpPr>
          <p:nvPr/>
        </p:nvCxnSpPr>
        <p:spPr>
          <a:xfrm rot="16200000" flipH="1">
            <a:off x="2459023" y="2326896"/>
            <a:ext cx="236989" cy="142193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38984A11-36CD-BD10-6425-BE0C909493C0}"/>
              </a:ext>
            </a:extLst>
          </p:cNvPr>
          <p:cNvSpPr txBox="1"/>
          <p:nvPr/>
        </p:nvSpPr>
        <p:spPr>
          <a:xfrm>
            <a:off x="6096000" y="1635853"/>
            <a:ext cx="4709020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let per = new Person();</a:t>
            </a:r>
          </a:p>
          <a:p>
            <a:r>
              <a:rPr lang="en-GB" b="1" dirty="0" err="1"/>
              <a:t>per.Id</a:t>
            </a:r>
            <a:r>
              <a:rPr lang="en-GB" b="1" dirty="0"/>
              <a:t> = 101;</a:t>
            </a:r>
          </a:p>
          <a:p>
            <a:r>
              <a:rPr lang="en-GB" b="1" dirty="0" err="1"/>
              <a:t>per.Name</a:t>
            </a:r>
            <a:r>
              <a:rPr lang="en-GB" b="1" dirty="0"/>
              <a:t> = “</a:t>
            </a:r>
            <a:r>
              <a:rPr lang="en-GB" b="1" dirty="0" err="1"/>
              <a:t>MAhesh</a:t>
            </a:r>
            <a:r>
              <a:rPr lang="en-GB" b="1" dirty="0"/>
              <a:t>”</a:t>
            </a:r>
            <a:endParaRPr lang="en-US" b="1" dirty="0"/>
          </a:p>
        </p:txBody>
      </p:sp>
      <p:sp>
        <p:nvSpPr>
          <p:cNvPr id="11" name="Cylinder 10">
            <a:extLst>
              <a:ext uri="{FF2B5EF4-FFF2-40B4-BE49-F238E27FC236}">
                <a16:creationId xmlns:a16="http://schemas.microsoft.com/office/drawing/2014/main" id="{55044380-D4D7-6FED-AFC2-2934C88A60C4}"/>
              </a:ext>
            </a:extLst>
          </p:cNvPr>
          <p:cNvSpPr/>
          <p:nvPr/>
        </p:nvSpPr>
        <p:spPr>
          <a:xfrm>
            <a:off x="411061" y="4781725"/>
            <a:ext cx="1795244" cy="112412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Per:{</a:t>
            </a:r>
            <a:r>
              <a:rPr lang="en-GB" dirty="0" err="1"/>
              <a:t>id,name</a:t>
            </a:r>
            <a:r>
              <a:rPr lang="en-GB" dirty="0"/>
              <a:t>} </a:t>
            </a:r>
            <a:endParaRPr lang="en-US" dirty="0"/>
          </a:p>
        </p:txBody>
      </p:sp>
      <p:sp>
        <p:nvSpPr>
          <p:cNvPr id="12" name="Cylinder 11">
            <a:extLst>
              <a:ext uri="{FF2B5EF4-FFF2-40B4-BE49-F238E27FC236}">
                <a16:creationId xmlns:a16="http://schemas.microsoft.com/office/drawing/2014/main" id="{548D7AF0-B0F0-2960-69AB-4E3C7AC72615}"/>
              </a:ext>
            </a:extLst>
          </p:cNvPr>
          <p:cNvSpPr/>
          <p:nvPr/>
        </p:nvSpPr>
        <p:spPr>
          <a:xfrm>
            <a:off x="2504113" y="4819475"/>
            <a:ext cx="1795244" cy="112412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Per:{</a:t>
            </a:r>
            <a:r>
              <a:rPr lang="en-GB" dirty="0" err="1"/>
              <a:t>id,name</a:t>
            </a:r>
            <a:r>
              <a:rPr lang="en-GB" dirty="0"/>
              <a:t>} </a:t>
            </a:r>
            <a:endParaRPr lang="en-US" dirty="0"/>
          </a:p>
        </p:txBody>
      </p:sp>
      <p:sp>
        <p:nvSpPr>
          <p:cNvPr id="13" name="Cylinder 12">
            <a:extLst>
              <a:ext uri="{FF2B5EF4-FFF2-40B4-BE49-F238E27FC236}">
                <a16:creationId xmlns:a16="http://schemas.microsoft.com/office/drawing/2014/main" id="{ECDB66C5-E2FC-F612-9D0E-69EE5A6E7067}"/>
              </a:ext>
            </a:extLst>
          </p:cNvPr>
          <p:cNvSpPr/>
          <p:nvPr/>
        </p:nvSpPr>
        <p:spPr>
          <a:xfrm>
            <a:off x="4837650" y="4819475"/>
            <a:ext cx="1795244" cy="112412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Per:{</a:t>
            </a:r>
            <a:r>
              <a:rPr lang="en-GB" dirty="0" err="1"/>
              <a:t>id,name</a:t>
            </a:r>
            <a:r>
              <a:rPr lang="en-GB" dirty="0"/>
              <a:t>} </a:t>
            </a:r>
            <a:endParaRPr lang="en-US" dirty="0"/>
          </a:p>
        </p:txBody>
      </p:sp>
      <p:sp>
        <p:nvSpPr>
          <p:cNvPr id="14" name="Cylinder 13">
            <a:extLst>
              <a:ext uri="{FF2B5EF4-FFF2-40B4-BE49-F238E27FC236}">
                <a16:creationId xmlns:a16="http://schemas.microsoft.com/office/drawing/2014/main" id="{2CB6C22B-17CD-693C-2A86-A2E4E2F9F283}"/>
              </a:ext>
            </a:extLst>
          </p:cNvPr>
          <p:cNvSpPr/>
          <p:nvPr/>
        </p:nvSpPr>
        <p:spPr>
          <a:xfrm>
            <a:off x="7263467" y="4823670"/>
            <a:ext cx="1795244" cy="112412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Per:{</a:t>
            </a:r>
            <a:r>
              <a:rPr lang="en-GB" dirty="0" err="1"/>
              <a:t>id,name</a:t>
            </a:r>
            <a:r>
              <a:rPr lang="en-GB" dirty="0"/>
              <a:t>} 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DA4C58-DA9A-A62B-6BF2-940A10867D57}"/>
              </a:ext>
            </a:extLst>
          </p:cNvPr>
          <p:cNvSpPr txBox="1"/>
          <p:nvPr/>
        </p:nvSpPr>
        <p:spPr>
          <a:xfrm>
            <a:off x="6096000" y="2919367"/>
            <a:ext cx="5128470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Let p2 = </a:t>
            </a:r>
            <a:r>
              <a:rPr lang="en-GB" dirty="0" err="1"/>
              <a:t>Object.create</a:t>
            </a:r>
            <a:r>
              <a:rPr lang="en-GB" dirty="0"/>
              <a:t>(per)</a:t>
            </a:r>
          </a:p>
          <a:p>
            <a:endParaRPr lang="en-GB" dirty="0"/>
          </a:p>
          <a:p>
            <a:r>
              <a:rPr lang="en-GB" dirty="0"/>
              <a:t>Let p3 = </a:t>
            </a:r>
            <a:r>
              <a:rPr lang="en-GB" dirty="0" err="1"/>
              <a:t>Object.assing</a:t>
            </a:r>
            <a:r>
              <a:rPr lang="en-GB" dirty="0"/>
              <a:t>({}, per)</a:t>
            </a:r>
          </a:p>
          <a:p>
            <a:r>
              <a:rPr lang="en-GB" dirty="0"/>
              <a:t>The Target is created immediately with values from the Source</a:t>
            </a:r>
          </a:p>
          <a:p>
            <a:r>
              <a:rPr lang="en-GB" dirty="0"/>
              <a:t>Let p4  ={…per, </a:t>
            </a:r>
            <a:r>
              <a:rPr lang="en-GB" dirty="0" err="1"/>
              <a:t>Name:’Tejas’,City:’Pune</a:t>
            </a:r>
            <a:r>
              <a:rPr lang="en-GB" dirty="0"/>
              <a:t>’}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748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5F2556-116A-5FCA-DB14-9B4A77978D2B}"/>
              </a:ext>
            </a:extLst>
          </p:cNvPr>
          <p:cNvSpPr/>
          <p:nvPr/>
        </p:nvSpPr>
        <p:spPr>
          <a:xfrm>
            <a:off x="448574" y="5710687"/>
            <a:ext cx="3476445" cy="7332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OS, Windows, Linux pr Mac on Dev Machine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92B3A34-9A08-392E-B63A-CB8C76898B35}"/>
              </a:ext>
            </a:extLst>
          </p:cNvPr>
          <p:cNvSpPr/>
          <p:nvPr/>
        </p:nvSpPr>
        <p:spPr>
          <a:xfrm>
            <a:off x="715992" y="4554747"/>
            <a:ext cx="2898476" cy="11559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Node.js Runtime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D5E2D21-8BD8-31CD-30D1-BC0BD5884655}"/>
              </a:ext>
            </a:extLst>
          </p:cNvPr>
          <p:cNvSpPr/>
          <p:nvPr/>
        </p:nvSpPr>
        <p:spPr>
          <a:xfrm>
            <a:off x="1170316" y="3398807"/>
            <a:ext cx="2159480" cy="115594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React Application with Vite Build Tool</a:t>
            </a:r>
            <a:endParaRPr lang="en-US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705B55-F7A9-CFC8-7BA5-900F5E721F29}"/>
              </a:ext>
            </a:extLst>
          </p:cNvPr>
          <p:cNvSpPr txBox="1"/>
          <p:nvPr/>
        </p:nvSpPr>
        <p:spPr>
          <a:xfrm>
            <a:off x="552091" y="603849"/>
            <a:ext cx="315726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Dev Machine before Build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7814EF-BEB8-FBBC-3447-1F34D87D8F4A}"/>
              </a:ext>
            </a:extLst>
          </p:cNvPr>
          <p:cNvSpPr/>
          <p:nvPr/>
        </p:nvSpPr>
        <p:spPr>
          <a:xfrm>
            <a:off x="4114800" y="0"/>
            <a:ext cx="414068" cy="6858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DCB1AC-883F-5ED0-756B-31DFC0C7B1EB}"/>
              </a:ext>
            </a:extLst>
          </p:cNvPr>
          <p:cNvSpPr/>
          <p:nvPr/>
        </p:nvSpPr>
        <p:spPr>
          <a:xfrm>
            <a:off x="4839419" y="1224951"/>
            <a:ext cx="2475781" cy="59522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Node.js CLI</a:t>
            </a:r>
            <a:endParaRPr lang="en-US" b="1" dirty="0"/>
          </a:p>
        </p:txBody>
      </p:sp>
      <p:sp>
        <p:nvSpPr>
          <p:cNvPr id="8" name="Arrow: Left 7">
            <a:extLst>
              <a:ext uri="{FF2B5EF4-FFF2-40B4-BE49-F238E27FC236}">
                <a16:creationId xmlns:a16="http://schemas.microsoft.com/office/drawing/2014/main" id="{1413DC93-CEAF-03A3-667F-C0812522AE19}"/>
              </a:ext>
            </a:extLst>
          </p:cNvPr>
          <p:cNvSpPr/>
          <p:nvPr/>
        </p:nvSpPr>
        <p:spPr>
          <a:xfrm>
            <a:off x="7435970" y="1224951"/>
            <a:ext cx="2389517" cy="526211"/>
          </a:xfrm>
          <a:prstGeom prst="leftArrow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NPM CLI</a:t>
            </a:r>
            <a:endParaRPr lang="en-US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9AB564-2681-C376-D12D-887E6081E4D6}"/>
              </a:ext>
            </a:extLst>
          </p:cNvPr>
          <p:cNvSpPr txBox="1"/>
          <p:nvPr/>
        </p:nvSpPr>
        <p:spPr>
          <a:xfrm>
            <a:off x="4839419" y="2234242"/>
            <a:ext cx="247578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 </a:t>
            </a:r>
            <a:r>
              <a:rPr lang="en-GB" b="1" dirty="0" err="1"/>
              <a:t>npm</a:t>
            </a:r>
            <a:r>
              <a:rPr lang="en-GB" b="1" dirty="0"/>
              <a:t>  run dev</a:t>
            </a:r>
            <a:endParaRPr lang="en-US" b="1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5C69AE-C47B-CB18-86D1-98C201FCD90B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6077310" y="1820174"/>
            <a:ext cx="0" cy="4140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33BBC48-26AF-CF92-1424-8EA62D77F126}"/>
              </a:ext>
            </a:extLst>
          </p:cNvPr>
          <p:cNvSpPr/>
          <p:nvPr/>
        </p:nvSpPr>
        <p:spPr>
          <a:xfrm>
            <a:off x="4839419" y="3019245"/>
            <a:ext cx="2475781" cy="6211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Load the Vite Build Tool using </a:t>
            </a:r>
            <a:r>
              <a:rPr lang="en-GB" sz="1400" b="1" dirty="0" err="1"/>
              <a:t>Vite.Config.ts</a:t>
            </a:r>
            <a:endParaRPr lang="en-US" sz="1400" b="1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917624B-46EE-9447-EF6C-8F484BE0BF8C}"/>
              </a:ext>
            </a:extLst>
          </p:cNvPr>
          <p:cNvCxnSpPr>
            <a:stCxn id="9" idx="2"/>
            <a:endCxn id="13" idx="0"/>
          </p:cNvCxnSpPr>
          <p:nvPr/>
        </p:nvCxnSpPr>
        <p:spPr>
          <a:xfrm>
            <a:off x="6077310" y="2603574"/>
            <a:ext cx="0" cy="41567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84D9C22F-095E-C984-3FC8-5C126252A72F}"/>
              </a:ext>
            </a:extLst>
          </p:cNvPr>
          <p:cNvSpPr txBox="1"/>
          <p:nvPr/>
        </p:nvSpPr>
        <p:spPr>
          <a:xfrm>
            <a:off x="4839419" y="3968151"/>
            <a:ext cx="6636589" cy="246221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b="1" dirty="0"/>
              <a:t>Look for the Index file from the React Application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b="1" dirty="0"/>
              <a:t>The Index file will have “deep Linking” with All Files  (Code, CSS, Images, etc) from the React application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b="1" dirty="0"/>
              <a:t>The Node Module Loader will be used by Vite Build tool to look for deep linked files in the current application as well as in “external packages” mentioned in “</a:t>
            </a:r>
            <a:r>
              <a:rPr lang="en-GB" sz="1400" b="1" dirty="0" err="1"/>
              <a:t>package.json</a:t>
            </a:r>
            <a:r>
              <a:rPr lang="en-GB" sz="1400" b="1" dirty="0"/>
              <a:t>”  and load all them for compiling and building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b="1" dirty="0"/>
              <a:t>Once the Build is successful the final single merged file is created generally named as ‘main.js’. This main.js  is having compressed code for </a:t>
            </a:r>
            <a:r>
              <a:rPr lang="en-GB" sz="1400" b="1" dirty="0" err="1"/>
              <a:t>React.js’s</a:t>
            </a:r>
            <a:r>
              <a:rPr lang="en-GB" sz="1400" b="1" dirty="0"/>
              <a:t> standard classes, references from external packages as well as the developer created code.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GB" sz="1400" b="1" dirty="0"/>
              <a:t>This main.js will be then send to browser for execution </a:t>
            </a:r>
            <a:endParaRPr lang="en-US" sz="1400" b="1" dirty="0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56D91D19-CDE1-4FC0-41EE-461CCA9CC77B}"/>
              </a:ext>
            </a:extLst>
          </p:cNvPr>
          <p:cNvCxnSpPr>
            <a:stCxn id="13" idx="3"/>
            <a:endCxn id="16" idx="0"/>
          </p:cNvCxnSpPr>
          <p:nvPr/>
        </p:nvCxnSpPr>
        <p:spPr>
          <a:xfrm>
            <a:off x="7315200" y="3329796"/>
            <a:ext cx="842514" cy="63835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238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56F9156-76D6-A49A-3180-42CAE8A9C317}"/>
              </a:ext>
            </a:extLst>
          </p:cNvPr>
          <p:cNvSpPr txBox="1"/>
          <p:nvPr/>
        </p:nvSpPr>
        <p:spPr>
          <a:xfrm>
            <a:off x="112143" y="215660"/>
            <a:ext cx="226874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Initial Rendering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59CBA84-7B6D-C184-F64E-944C0B9CE8F4}"/>
              </a:ext>
            </a:extLst>
          </p:cNvPr>
          <p:cNvSpPr/>
          <p:nvPr/>
        </p:nvSpPr>
        <p:spPr>
          <a:xfrm>
            <a:off x="112143" y="957533"/>
            <a:ext cx="2268748" cy="4744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Initial Props</a:t>
            </a:r>
            <a:endParaRPr lang="en-US" sz="1400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BADFFE7-E7CF-2C3D-3F94-D86D6CB0188D}"/>
              </a:ext>
            </a:extLst>
          </p:cNvPr>
          <p:cNvSpPr/>
          <p:nvPr/>
        </p:nvSpPr>
        <p:spPr>
          <a:xfrm>
            <a:off x="112143" y="1846220"/>
            <a:ext cx="2268748" cy="4744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Initial State</a:t>
            </a:r>
            <a:endParaRPr lang="en-US" sz="1400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7159BB-7E72-92DE-E4F0-CE67A8FDAE61}"/>
              </a:ext>
            </a:extLst>
          </p:cNvPr>
          <p:cNvSpPr/>
          <p:nvPr/>
        </p:nvSpPr>
        <p:spPr>
          <a:xfrm>
            <a:off x="112143" y="2722133"/>
            <a:ext cx="2268748" cy="4744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Render()</a:t>
            </a:r>
            <a:endParaRPr lang="en-US" sz="14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D3176A0-CBCA-386B-AEBD-FE358F5DF5AA}"/>
              </a:ext>
            </a:extLst>
          </p:cNvPr>
          <p:cNvSpPr/>
          <p:nvPr/>
        </p:nvSpPr>
        <p:spPr>
          <a:xfrm>
            <a:off x="129396" y="3598046"/>
            <a:ext cx="2268748" cy="4744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err="1"/>
              <a:t>componentDidMount</a:t>
            </a:r>
            <a:r>
              <a:rPr lang="en-GB" sz="1400" b="1" dirty="0"/>
              <a:t>()</a:t>
            </a:r>
            <a:endParaRPr lang="en-US" sz="1400" b="1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0BFB204C-743D-C48B-4790-53D77EDAEB5D}"/>
              </a:ext>
            </a:extLst>
          </p:cNvPr>
          <p:cNvSpPr/>
          <p:nvPr/>
        </p:nvSpPr>
        <p:spPr>
          <a:xfrm>
            <a:off x="1181819" y="1431986"/>
            <a:ext cx="181155" cy="4142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DCDCB2BF-D198-7102-CBBD-C6D6B61DABA7}"/>
              </a:ext>
            </a:extLst>
          </p:cNvPr>
          <p:cNvSpPr/>
          <p:nvPr/>
        </p:nvSpPr>
        <p:spPr>
          <a:xfrm>
            <a:off x="1181818" y="2295125"/>
            <a:ext cx="181155" cy="4142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755D3945-53AC-27BF-7206-7E7307872FCE}"/>
              </a:ext>
            </a:extLst>
          </p:cNvPr>
          <p:cNvSpPr/>
          <p:nvPr/>
        </p:nvSpPr>
        <p:spPr>
          <a:xfrm>
            <a:off x="1181817" y="3183812"/>
            <a:ext cx="181155" cy="4142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Curved Down 9">
            <a:extLst>
              <a:ext uri="{FF2B5EF4-FFF2-40B4-BE49-F238E27FC236}">
                <a16:creationId xmlns:a16="http://schemas.microsoft.com/office/drawing/2014/main" id="{5D6020A8-5026-C688-983B-7BF69AC000AB}"/>
              </a:ext>
            </a:extLst>
          </p:cNvPr>
          <p:cNvSpPr/>
          <p:nvPr/>
        </p:nvSpPr>
        <p:spPr>
          <a:xfrm rot="5400000">
            <a:off x="2062622" y="2709359"/>
            <a:ext cx="1052421" cy="55059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5EA1E2-5F8A-48FB-6BF0-4A5B9B6E6382}"/>
              </a:ext>
            </a:extLst>
          </p:cNvPr>
          <p:cNvSpPr txBox="1"/>
          <p:nvPr/>
        </p:nvSpPr>
        <p:spPr>
          <a:xfrm>
            <a:off x="2432646" y="2722133"/>
            <a:ext cx="208924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Lifecycle for each Child Component in tree</a:t>
            </a:r>
            <a:endParaRPr lang="en-US" sz="12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989AC11-50EF-2EA4-32C2-124A312FB3C0}"/>
              </a:ext>
            </a:extLst>
          </p:cNvPr>
          <p:cNvSpPr/>
          <p:nvPr/>
        </p:nvSpPr>
        <p:spPr>
          <a:xfrm>
            <a:off x="4597879" y="60385"/>
            <a:ext cx="327804" cy="66423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01A663-D551-392A-5012-10E9F0685A30}"/>
              </a:ext>
            </a:extLst>
          </p:cNvPr>
          <p:cNvSpPr txBox="1"/>
          <p:nvPr/>
        </p:nvSpPr>
        <p:spPr>
          <a:xfrm>
            <a:off x="5278306" y="215660"/>
            <a:ext cx="2268748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State Changed Rendering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307A9F9-6CCF-3FFD-DC51-26FF53EB8D46}"/>
              </a:ext>
            </a:extLst>
          </p:cNvPr>
          <p:cNvSpPr/>
          <p:nvPr/>
        </p:nvSpPr>
        <p:spPr>
          <a:xfrm>
            <a:off x="5278306" y="957533"/>
            <a:ext cx="2268748" cy="4744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New Props Value</a:t>
            </a:r>
            <a:endParaRPr lang="en-US" sz="1400" b="1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4042B31-C91F-0475-6184-856D257F4A2A}"/>
              </a:ext>
            </a:extLst>
          </p:cNvPr>
          <p:cNvSpPr/>
          <p:nvPr/>
        </p:nvSpPr>
        <p:spPr>
          <a:xfrm>
            <a:off x="5278306" y="1846220"/>
            <a:ext cx="2268748" cy="4744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New State Value</a:t>
            </a:r>
            <a:endParaRPr lang="en-US" sz="1400" b="1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6A1D5B-6C2B-7619-7A0A-2DD58AE544A5}"/>
              </a:ext>
            </a:extLst>
          </p:cNvPr>
          <p:cNvSpPr/>
          <p:nvPr/>
        </p:nvSpPr>
        <p:spPr>
          <a:xfrm>
            <a:off x="5278306" y="4714002"/>
            <a:ext cx="2268748" cy="4744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/>
              <a:t>Render()</a:t>
            </a:r>
            <a:endParaRPr lang="en-US" sz="1400" b="1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E234D0F-2719-B04C-86BA-58A1967EA5BA}"/>
              </a:ext>
            </a:extLst>
          </p:cNvPr>
          <p:cNvSpPr/>
          <p:nvPr/>
        </p:nvSpPr>
        <p:spPr>
          <a:xfrm>
            <a:off x="5295559" y="5589915"/>
            <a:ext cx="2268748" cy="4744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400" b="1" dirty="0" err="1"/>
              <a:t>componentDidMount</a:t>
            </a:r>
            <a:r>
              <a:rPr lang="en-GB" sz="1400" b="1" dirty="0"/>
              <a:t>()</a:t>
            </a:r>
            <a:endParaRPr lang="en-US" sz="1400" b="1" dirty="0"/>
          </a:p>
        </p:txBody>
      </p:sp>
      <p:sp>
        <p:nvSpPr>
          <p:cNvPr id="18" name="Arrow: Down 17">
            <a:extLst>
              <a:ext uri="{FF2B5EF4-FFF2-40B4-BE49-F238E27FC236}">
                <a16:creationId xmlns:a16="http://schemas.microsoft.com/office/drawing/2014/main" id="{1B61F35F-CE32-23ED-6950-7323D563177F}"/>
              </a:ext>
            </a:extLst>
          </p:cNvPr>
          <p:cNvSpPr/>
          <p:nvPr/>
        </p:nvSpPr>
        <p:spPr>
          <a:xfrm>
            <a:off x="6347982" y="1431986"/>
            <a:ext cx="181155" cy="4142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B9BAF064-6101-C9C1-7123-0CEC8E7340D0}"/>
              </a:ext>
            </a:extLst>
          </p:cNvPr>
          <p:cNvSpPr/>
          <p:nvPr/>
        </p:nvSpPr>
        <p:spPr>
          <a:xfrm>
            <a:off x="6347981" y="2295125"/>
            <a:ext cx="181155" cy="414234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Curved Down 19">
            <a:extLst>
              <a:ext uri="{FF2B5EF4-FFF2-40B4-BE49-F238E27FC236}">
                <a16:creationId xmlns:a16="http://schemas.microsoft.com/office/drawing/2014/main" id="{807598BC-AE5C-1C9F-97A3-0A0C7165596F}"/>
              </a:ext>
            </a:extLst>
          </p:cNvPr>
          <p:cNvSpPr/>
          <p:nvPr/>
        </p:nvSpPr>
        <p:spPr>
          <a:xfrm rot="5400000">
            <a:off x="7228785" y="4701228"/>
            <a:ext cx="1052421" cy="550595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317D6F8-C97B-665E-4192-072156D082E8}"/>
              </a:ext>
            </a:extLst>
          </p:cNvPr>
          <p:cNvSpPr txBox="1"/>
          <p:nvPr/>
        </p:nvSpPr>
        <p:spPr>
          <a:xfrm>
            <a:off x="7598809" y="4714002"/>
            <a:ext cx="2089249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dirty="0"/>
              <a:t>Lifecycle for each Child Component in tree</a:t>
            </a:r>
            <a:endParaRPr lang="en-US" sz="1200" dirty="0"/>
          </a:p>
        </p:txBody>
      </p:sp>
      <p:sp>
        <p:nvSpPr>
          <p:cNvPr id="22" name="Diamond 21">
            <a:extLst>
              <a:ext uri="{FF2B5EF4-FFF2-40B4-BE49-F238E27FC236}">
                <a16:creationId xmlns:a16="http://schemas.microsoft.com/office/drawing/2014/main" id="{4DD40A1A-C788-7958-6479-EADB02F4DA45}"/>
              </a:ext>
            </a:extLst>
          </p:cNvPr>
          <p:cNvSpPr/>
          <p:nvPr/>
        </p:nvSpPr>
        <p:spPr>
          <a:xfrm>
            <a:off x="5615796" y="2700068"/>
            <a:ext cx="1616017" cy="1121434"/>
          </a:xfrm>
          <a:prstGeom prst="diamond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900" dirty="0"/>
              <a:t>Should</a:t>
            </a:r>
          </a:p>
          <a:p>
            <a:pPr algn="ctr"/>
            <a:r>
              <a:rPr lang="en-GB" sz="900" dirty="0" err="1"/>
              <a:t>Componentupdate</a:t>
            </a:r>
            <a:endParaRPr lang="en-US" sz="900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5D61D5BC-D4BC-E8F8-21AA-42FA15E2797A}"/>
              </a:ext>
            </a:extLst>
          </p:cNvPr>
          <p:cNvSpPr/>
          <p:nvPr/>
        </p:nvSpPr>
        <p:spPr>
          <a:xfrm>
            <a:off x="6268078" y="3836103"/>
            <a:ext cx="311451" cy="89250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Y</a:t>
            </a:r>
            <a:endParaRPr lang="en-US" dirty="0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9D984A31-3AA2-6E67-4884-1DC5BB2E69ED}"/>
              </a:ext>
            </a:extLst>
          </p:cNvPr>
          <p:cNvSpPr/>
          <p:nvPr/>
        </p:nvSpPr>
        <p:spPr>
          <a:xfrm>
            <a:off x="6347981" y="5188455"/>
            <a:ext cx="231548" cy="41804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Connector: Curved 25">
            <a:extLst>
              <a:ext uri="{FF2B5EF4-FFF2-40B4-BE49-F238E27FC236}">
                <a16:creationId xmlns:a16="http://schemas.microsoft.com/office/drawing/2014/main" id="{1A0D7FE9-90AC-8E84-4C20-F5ACDC063A4E}"/>
              </a:ext>
            </a:extLst>
          </p:cNvPr>
          <p:cNvCxnSpPr>
            <a:cxnSpLocks/>
            <a:stCxn id="22" idx="3"/>
            <a:endCxn id="17" idx="3"/>
          </p:cNvCxnSpPr>
          <p:nvPr/>
        </p:nvCxnSpPr>
        <p:spPr>
          <a:xfrm>
            <a:off x="7231813" y="3260785"/>
            <a:ext cx="332494" cy="2566357"/>
          </a:xfrm>
          <a:prstGeom prst="curvedConnector3">
            <a:avLst>
              <a:gd name="adj1" fmla="val 117799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>
            <a:extLst>
              <a:ext uri="{FF2B5EF4-FFF2-40B4-BE49-F238E27FC236}">
                <a16:creationId xmlns:a16="http://schemas.microsoft.com/office/drawing/2014/main" id="{F0C87068-3237-28C7-0A4D-7574DB59DB69}"/>
              </a:ext>
            </a:extLst>
          </p:cNvPr>
          <p:cNvSpPr/>
          <p:nvPr/>
        </p:nvSpPr>
        <p:spPr>
          <a:xfrm>
            <a:off x="10834777" y="4450315"/>
            <a:ext cx="638355" cy="26368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251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DBC38E-1DF5-B295-045C-1651EF76FED0}"/>
              </a:ext>
            </a:extLst>
          </p:cNvPr>
          <p:cNvSpPr/>
          <p:nvPr/>
        </p:nvSpPr>
        <p:spPr>
          <a:xfrm>
            <a:off x="103517" y="207034"/>
            <a:ext cx="1276709" cy="750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Component</a:t>
            </a:r>
            <a:endParaRPr lang="en-US" sz="1100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CF73206-FB14-E9D4-C748-AFB59B472DB6}"/>
              </a:ext>
            </a:extLst>
          </p:cNvPr>
          <p:cNvSpPr/>
          <p:nvPr/>
        </p:nvSpPr>
        <p:spPr>
          <a:xfrm>
            <a:off x="2298939" y="146649"/>
            <a:ext cx="681487" cy="37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P1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B7A6B9-30A2-33F6-EC74-D84C2B07472B}"/>
              </a:ext>
            </a:extLst>
          </p:cNvPr>
          <p:cNvSpPr/>
          <p:nvPr/>
        </p:nvSpPr>
        <p:spPr>
          <a:xfrm>
            <a:off x="1830237" y="678611"/>
            <a:ext cx="681487" cy="37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P11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BBBD23D-2087-3B06-2B3B-81E2A0C0B2FD}"/>
              </a:ext>
            </a:extLst>
          </p:cNvPr>
          <p:cNvSpPr/>
          <p:nvPr/>
        </p:nvSpPr>
        <p:spPr>
          <a:xfrm>
            <a:off x="2724509" y="687237"/>
            <a:ext cx="681487" cy="37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P12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9ABDE1-8F04-CFFE-7DB8-40E952AED6F7}"/>
              </a:ext>
            </a:extLst>
          </p:cNvPr>
          <p:cNvSpPr/>
          <p:nvPr/>
        </p:nvSpPr>
        <p:spPr>
          <a:xfrm>
            <a:off x="2383765" y="1246515"/>
            <a:ext cx="681487" cy="37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P21</a:t>
            </a:r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866053-5B83-EC23-22ED-45F8FED5764C}"/>
              </a:ext>
            </a:extLst>
          </p:cNvPr>
          <p:cNvCxnSpPr>
            <a:stCxn id="3" idx="2"/>
            <a:endCxn id="4" idx="0"/>
          </p:cNvCxnSpPr>
          <p:nvPr/>
        </p:nvCxnSpPr>
        <p:spPr>
          <a:xfrm flipH="1">
            <a:off x="2170981" y="517585"/>
            <a:ext cx="468702" cy="161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B0BCA30-EA9B-CF7E-4C95-DAB5365623B3}"/>
              </a:ext>
            </a:extLst>
          </p:cNvPr>
          <p:cNvCxnSpPr>
            <a:stCxn id="3" idx="2"/>
            <a:endCxn id="5" idx="0"/>
          </p:cNvCxnSpPr>
          <p:nvPr/>
        </p:nvCxnSpPr>
        <p:spPr>
          <a:xfrm>
            <a:off x="2639683" y="517585"/>
            <a:ext cx="425570" cy="169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8E1F9F-9E4F-8CAE-77B7-7700222C6742}"/>
              </a:ext>
            </a:extLst>
          </p:cNvPr>
          <p:cNvCxnSpPr>
            <a:stCxn id="5" idx="2"/>
            <a:endCxn id="6" idx="0"/>
          </p:cNvCxnSpPr>
          <p:nvPr/>
        </p:nvCxnSpPr>
        <p:spPr>
          <a:xfrm flipH="1">
            <a:off x="2724509" y="1058173"/>
            <a:ext cx="340744" cy="188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03CF2505-8D03-BE0E-34A2-055894DD00B2}"/>
              </a:ext>
            </a:extLst>
          </p:cNvPr>
          <p:cNvSpPr/>
          <p:nvPr/>
        </p:nvSpPr>
        <p:spPr>
          <a:xfrm>
            <a:off x="1380226" y="405442"/>
            <a:ext cx="790755" cy="1610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37AEF0D-724F-51DD-A99B-6F4C6B41F3BD}"/>
              </a:ext>
            </a:extLst>
          </p:cNvPr>
          <p:cNvSpPr/>
          <p:nvPr/>
        </p:nvSpPr>
        <p:spPr>
          <a:xfrm>
            <a:off x="5874589" y="117895"/>
            <a:ext cx="879894" cy="5319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D1</a:t>
            </a:r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5D843CB-879A-207B-666C-F1CD7F679DCD}"/>
              </a:ext>
            </a:extLst>
          </p:cNvPr>
          <p:cNvSpPr/>
          <p:nvPr/>
        </p:nvSpPr>
        <p:spPr>
          <a:xfrm>
            <a:off x="5216106" y="731806"/>
            <a:ext cx="879894" cy="5319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D11</a:t>
            </a:r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8F269D7-4B32-EEAC-C94F-8AC7A78C01EF}"/>
              </a:ext>
            </a:extLst>
          </p:cNvPr>
          <p:cNvSpPr/>
          <p:nvPr/>
        </p:nvSpPr>
        <p:spPr>
          <a:xfrm>
            <a:off x="6878128" y="726053"/>
            <a:ext cx="879894" cy="5319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D12</a:t>
            </a:r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1E62DAB-4B97-47D2-05AB-A456B8BC397B}"/>
              </a:ext>
            </a:extLst>
          </p:cNvPr>
          <p:cNvSpPr/>
          <p:nvPr/>
        </p:nvSpPr>
        <p:spPr>
          <a:xfrm>
            <a:off x="6167886" y="1617451"/>
            <a:ext cx="879894" cy="5319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D21</a:t>
            </a:r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CF312D4-3027-C19A-3FE8-C3682B6F9C1E}"/>
              </a:ext>
            </a:extLst>
          </p:cNvPr>
          <p:cNvCxnSpPr>
            <a:stCxn id="14" idx="4"/>
            <a:endCxn id="15" idx="0"/>
          </p:cNvCxnSpPr>
          <p:nvPr/>
        </p:nvCxnSpPr>
        <p:spPr>
          <a:xfrm flipH="1">
            <a:off x="5656053" y="649857"/>
            <a:ext cx="658483" cy="819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D3A2CEC-553F-C880-9A47-5E34D75506A5}"/>
              </a:ext>
            </a:extLst>
          </p:cNvPr>
          <p:cNvCxnSpPr>
            <a:stCxn id="14" idx="4"/>
            <a:endCxn id="16" idx="0"/>
          </p:cNvCxnSpPr>
          <p:nvPr/>
        </p:nvCxnSpPr>
        <p:spPr>
          <a:xfrm>
            <a:off x="6314536" y="649857"/>
            <a:ext cx="1003539" cy="761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D58992A3-0D50-3231-8151-B38813DC9D60}"/>
              </a:ext>
            </a:extLst>
          </p:cNvPr>
          <p:cNvCxnSpPr>
            <a:stCxn id="16" idx="4"/>
            <a:endCxn id="17" idx="0"/>
          </p:cNvCxnSpPr>
          <p:nvPr/>
        </p:nvCxnSpPr>
        <p:spPr>
          <a:xfrm flipH="1">
            <a:off x="6607833" y="1258015"/>
            <a:ext cx="710242" cy="3594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Arrow: Right 23">
            <a:extLst>
              <a:ext uri="{FF2B5EF4-FFF2-40B4-BE49-F238E27FC236}">
                <a16:creationId xmlns:a16="http://schemas.microsoft.com/office/drawing/2014/main" id="{59606C08-D331-0F96-1F90-C48ACB48ED45}"/>
              </a:ext>
            </a:extLst>
          </p:cNvPr>
          <p:cNvSpPr/>
          <p:nvPr/>
        </p:nvSpPr>
        <p:spPr>
          <a:xfrm>
            <a:off x="3510951" y="632604"/>
            <a:ext cx="1486619" cy="32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70F3D80-3CE8-7BB3-750A-D55FF94B8C61}"/>
              </a:ext>
            </a:extLst>
          </p:cNvPr>
          <p:cNvSpPr txBox="1"/>
          <p:nvPr/>
        </p:nvSpPr>
        <p:spPr>
          <a:xfrm>
            <a:off x="5080958" y="2311879"/>
            <a:ext cx="27863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Original Virtual DOM</a:t>
            </a:r>
            <a:endParaRPr lang="en-US" b="1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09EC6321-7822-B6D7-37E6-141A4345643D}"/>
              </a:ext>
            </a:extLst>
          </p:cNvPr>
          <p:cNvSpPr/>
          <p:nvPr/>
        </p:nvSpPr>
        <p:spPr>
          <a:xfrm>
            <a:off x="9575320" y="184034"/>
            <a:ext cx="879894" cy="5319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D1</a:t>
            </a:r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D980E24-6252-2487-3D4C-12D178FB95D0}"/>
              </a:ext>
            </a:extLst>
          </p:cNvPr>
          <p:cNvSpPr/>
          <p:nvPr/>
        </p:nvSpPr>
        <p:spPr>
          <a:xfrm>
            <a:off x="8916837" y="797945"/>
            <a:ext cx="879894" cy="5319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D11</a:t>
            </a:r>
            <a:endParaRPr lang="en-US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369EFAF-57D8-4B7E-3254-2D2F05C5A295}"/>
              </a:ext>
            </a:extLst>
          </p:cNvPr>
          <p:cNvSpPr/>
          <p:nvPr/>
        </p:nvSpPr>
        <p:spPr>
          <a:xfrm>
            <a:off x="10578859" y="792192"/>
            <a:ext cx="879894" cy="53196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D12</a:t>
            </a:r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2148C79-EA69-58EA-8431-817238970C28}"/>
              </a:ext>
            </a:extLst>
          </p:cNvPr>
          <p:cNvSpPr/>
          <p:nvPr/>
        </p:nvSpPr>
        <p:spPr>
          <a:xfrm>
            <a:off x="9868617" y="1683590"/>
            <a:ext cx="879894" cy="5319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D21</a:t>
            </a:r>
            <a:endParaRPr lang="en-US" dirty="0"/>
          </a:p>
        </p:txBody>
      </p:sp>
      <p:cxnSp>
        <p:nvCxnSpPr>
          <p:cNvPr id="33" name="Connector: Curved 32">
            <a:extLst>
              <a:ext uri="{FF2B5EF4-FFF2-40B4-BE49-F238E27FC236}">
                <a16:creationId xmlns:a16="http://schemas.microsoft.com/office/drawing/2014/main" id="{29635D6A-7208-9820-8295-FA2474DC541C}"/>
              </a:ext>
            </a:extLst>
          </p:cNvPr>
          <p:cNvCxnSpPr>
            <a:stCxn id="28" idx="4"/>
            <a:endCxn id="29" idx="6"/>
          </p:cNvCxnSpPr>
          <p:nvPr/>
        </p:nvCxnSpPr>
        <p:spPr>
          <a:xfrm rot="5400000">
            <a:off x="9732034" y="780693"/>
            <a:ext cx="347930" cy="21853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Curved 34">
            <a:extLst>
              <a:ext uri="{FF2B5EF4-FFF2-40B4-BE49-F238E27FC236}">
                <a16:creationId xmlns:a16="http://schemas.microsoft.com/office/drawing/2014/main" id="{4EB6B37B-9C2F-6F43-B5EB-B022ADC0F573}"/>
              </a:ext>
            </a:extLst>
          </p:cNvPr>
          <p:cNvCxnSpPr>
            <a:cxnSpLocks/>
            <a:stCxn id="28" idx="4"/>
          </p:cNvCxnSpPr>
          <p:nvPr/>
        </p:nvCxnSpPr>
        <p:spPr>
          <a:xfrm rot="16200000" flipH="1">
            <a:off x="10190670" y="540593"/>
            <a:ext cx="359436" cy="71024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: Curved 36">
            <a:extLst>
              <a:ext uri="{FF2B5EF4-FFF2-40B4-BE49-F238E27FC236}">
                <a16:creationId xmlns:a16="http://schemas.microsoft.com/office/drawing/2014/main" id="{A825BEA7-5E96-24AD-B8A9-4618A5C2075A}"/>
              </a:ext>
            </a:extLst>
          </p:cNvPr>
          <p:cNvCxnSpPr>
            <a:stCxn id="30" idx="4"/>
            <a:endCxn id="31" idx="0"/>
          </p:cNvCxnSpPr>
          <p:nvPr/>
        </p:nvCxnSpPr>
        <p:spPr>
          <a:xfrm rot="5400000">
            <a:off x="10483967" y="1148751"/>
            <a:ext cx="359436" cy="7102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C24ABB20-72DD-1A5B-CF20-4B0F90C1BB13}"/>
              </a:ext>
            </a:extLst>
          </p:cNvPr>
          <p:cNvSpPr txBox="1"/>
          <p:nvPr/>
        </p:nvSpPr>
        <p:spPr>
          <a:xfrm>
            <a:off x="8718427" y="2215552"/>
            <a:ext cx="27863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Rendering</a:t>
            </a:r>
            <a:endParaRPr lang="en-US" b="1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FF3D3E16-7D66-1CCB-705D-0E05C0A59038}"/>
              </a:ext>
            </a:extLst>
          </p:cNvPr>
          <p:cNvSpPr/>
          <p:nvPr/>
        </p:nvSpPr>
        <p:spPr>
          <a:xfrm>
            <a:off x="103517" y="2812211"/>
            <a:ext cx="11887200" cy="4888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259771BF-5091-3D0E-ACAC-EFBF8DAB9637}"/>
              </a:ext>
            </a:extLst>
          </p:cNvPr>
          <p:cNvSpPr/>
          <p:nvPr/>
        </p:nvSpPr>
        <p:spPr>
          <a:xfrm>
            <a:off x="189781" y="4083168"/>
            <a:ext cx="1276709" cy="75049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Component</a:t>
            </a:r>
            <a:endParaRPr lang="en-US" sz="1100" b="1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DE53A4BA-68A1-197F-FBEC-24FD2353526E}"/>
              </a:ext>
            </a:extLst>
          </p:cNvPr>
          <p:cNvSpPr/>
          <p:nvPr/>
        </p:nvSpPr>
        <p:spPr>
          <a:xfrm>
            <a:off x="2385203" y="4022783"/>
            <a:ext cx="681487" cy="37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P1</a:t>
            </a:r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7F5C96A0-2B54-D65B-5B9E-6F80F3DB17D4}"/>
              </a:ext>
            </a:extLst>
          </p:cNvPr>
          <p:cNvSpPr/>
          <p:nvPr/>
        </p:nvSpPr>
        <p:spPr>
          <a:xfrm>
            <a:off x="1916501" y="4554745"/>
            <a:ext cx="681487" cy="37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P11</a:t>
            </a:r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87B4C8D-9B6C-587B-1238-183E89814614}"/>
              </a:ext>
            </a:extLst>
          </p:cNvPr>
          <p:cNvSpPr/>
          <p:nvPr/>
        </p:nvSpPr>
        <p:spPr>
          <a:xfrm>
            <a:off x="2810773" y="4563371"/>
            <a:ext cx="681487" cy="37093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P12</a:t>
            </a:r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A311B4E-8652-50FD-D07E-A149A395378D}"/>
              </a:ext>
            </a:extLst>
          </p:cNvPr>
          <p:cNvSpPr/>
          <p:nvPr/>
        </p:nvSpPr>
        <p:spPr>
          <a:xfrm>
            <a:off x="2470029" y="5122649"/>
            <a:ext cx="681487" cy="37093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P21</a:t>
            </a:r>
            <a:endParaRPr lang="en-US" dirty="0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876CDF5F-AE8C-BD30-3818-F9E7B6EC7A46}"/>
              </a:ext>
            </a:extLst>
          </p:cNvPr>
          <p:cNvSpPr/>
          <p:nvPr/>
        </p:nvSpPr>
        <p:spPr>
          <a:xfrm>
            <a:off x="1466490" y="4281576"/>
            <a:ext cx="790755" cy="16102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DD1CD6F8-651A-7871-7B12-8E0D9E1409BF}"/>
              </a:ext>
            </a:extLst>
          </p:cNvPr>
          <p:cNvCxnSpPr>
            <a:stCxn id="42" idx="2"/>
            <a:endCxn id="43" idx="0"/>
          </p:cNvCxnSpPr>
          <p:nvPr/>
        </p:nvCxnSpPr>
        <p:spPr>
          <a:xfrm flipH="1">
            <a:off x="2257245" y="4393719"/>
            <a:ext cx="468702" cy="16102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37AECD9-6F40-0A4C-807C-9B6A2610796A}"/>
              </a:ext>
            </a:extLst>
          </p:cNvPr>
          <p:cNvCxnSpPr>
            <a:stCxn id="42" idx="2"/>
            <a:endCxn id="44" idx="0"/>
          </p:cNvCxnSpPr>
          <p:nvPr/>
        </p:nvCxnSpPr>
        <p:spPr>
          <a:xfrm>
            <a:off x="2725947" y="4393719"/>
            <a:ext cx="425570" cy="1696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B3C162EE-C0C7-2E98-D16F-C68A10711383}"/>
              </a:ext>
            </a:extLst>
          </p:cNvPr>
          <p:cNvCxnSpPr>
            <a:stCxn id="44" idx="2"/>
            <a:endCxn id="45" idx="0"/>
          </p:cNvCxnSpPr>
          <p:nvPr/>
        </p:nvCxnSpPr>
        <p:spPr>
          <a:xfrm flipH="1">
            <a:off x="2810773" y="4934307"/>
            <a:ext cx="340744" cy="18834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E2DB64B-BD13-6726-B145-97885AE9F425}"/>
              </a:ext>
            </a:extLst>
          </p:cNvPr>
          <p:cNvSpPr txBox="1"/>
          <p:nvPr/>
        </p:nvSpPr>
        <p:spPr>
          <a:xfrm>
            <a:off x="1630392" y="5762445"/>
            <a:ext cx="224286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P2 is Modified</a:t>
            </a:r>
            <a:endParaRPr lang="en-US" b="1" dirty="0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84B1D80-7CEC-F252-79E8-13B1B1780F6D}"/>
              </a:ext>
            </a:extLst>
          </p:cNvPr>
          <p:cNvSpPr/>
          <p:nvPr/>
        </p:nvSpPr>
        <p:spPr>
          <a:xfrm>
            <a:off x="5897592" y="3469256"/>
            <a:ext cx="879894" cy="5319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D1</a:t>
            </a:r>
            <a:endParaRPr lang="en-US" dirty="0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1BC198B-7B4F-D374-CD02-E3B0F43920FC}"/>
              </a:ext>
            </a:extLst>
          </p:cNvPr>
          <p:cNvSpPr/>
          <p:nvPr/>
        </p:nvSpPr>
        <p:spPr>
          <a:xfrm>
            <a:off x="5239109" y="4083167"/>
            <a:ext cx="879894" cy="5319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D11</a:t>
            </a:r>
            <a:endParaRPr lang="en-US" dirty="0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70717592-FBF0-234D-4608-D951E4A78F5C}"/>
              </a:ext>
            </a:extLst>
          </p:cNvPr>
          <p:cNvSpPr/>
          <p:nvPr/>
        </p:nvSpPr>
        <p:spPr>
          <a:xfrm>
            <a:off x="6901131" y="4077414"/>
            <a:ext cx="879894" cy="531962"/>
          </a:xfrm>
          <a:prstGeom prst="ellipse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D12</a:t>
            </a:r>
            <a:endParaRPr lang="en-US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9E088C0C-C0D3-FBB3-63BE-D9CD0F5A9938}"/>
              </a:ext>
            </a:extLst>
          </p:cNvPr>
          <p:cNvSpPr/>
          <p:nvPr/>
        </p:nvSpPr>
        <p:spPr>
          <a:xfrm>
            <a:off x="6190889" y="4968812"/>
            <a:ext cx="879894" cy="531962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D21</a:t>
            </a:r>
            <a:endParaRPr lang="en-US" dirty="0"/>
          </a:p>
        </p:txBody>
      </p:sp>
      <p:sp>
        <p:nvSpPr>
          <p:cNvPr id="58" name="Arrow: Right 57">
            <a:extLst>
              <a:ext uri="{FF2B5EF4-FFF2-40B4-BE49-F238E27FC236}">
                <a16:creationId xmlns:a16="http://schemas.microsoft.com/office/drawing/2014/main" id="{C3D9A723-ED40-54FB-5E27-2C4F442BCB64}"/>
              </a:ext>
            </a:extLst>
          </p:cNvPr>
          <p:cNvSpPr/>
          <p:nvPr/>
        </p:nvSpPr>
        <p:spPr>
          <a:xfrm>
            <a:off x="3533954" y="3983965"/>
            <a:ext cx="1486619" cy="3249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0" name="Connector: Curved 59">
            <a:extLst>
              <a:ext uri="{FF2B5EF4-FFF2-40B4-BE49-F238E27FC236}">
                <a16:creationId xmlns:a16="http://schemas.microsoft.com/office/drawing/2014/main" id="{92B39696-6D20-7DCF-1F9F-9424211D9D8E}"/>
              </a:ext>
            </a:extLst>
          </p:cNvPr>
          <p:cNvCxnSpPr>
            <a:cxnSpLocks/>
            <a:stCxn id="54" idx="4"/>
            <a:endCxn id="55" idx="6"/>
          </p:cNvCxnSpPr>
          <p:nvPr/>
        </p:nvCxnSpPr>
        <p:spPr>
          <a:xfrm rot="5400000">
            <a:off x="6054306" y="4065915"/>
            <a:ext cx="347930" cy="218536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: Curved 61">
            <a:extLst>
              <a:ext uri="{FF2B5EF4-FFF2-40B4-BE49-F238E27FC236}">
                <a16:creationId xmlns:a16="http://schemas.microsoft.com/office/drawing/2014/main" id="{43AE0195-72CF-9021-CF5E-E40C0338F84E}"/>
              </a:ext>
            </a:extLst>
          </p:cNvPr>
          <p:cNvCxnSpPr>
            <a:cxnSpLocks/>
            <a:stCxn id="54" idx="4"/>
            <a:endCxn id="56" idx="2"/>
          </p:cNvCxnSpPr>
          <p:nvPr/>
        </p:nvCxnSpPr>
        <p:spPr>
          <a:xfrm rot="16200000" flipH="1">
            <a:off x="6448247" y="3890510"/>
            <a:ext cx="342177" cy="56359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Curved 63">
            <a:extLst>
              <a:ext uri="{FF2B5EF4-FFF2-40B4-BE49-F238E27FC236}">
                <a16:creationId xmlns:a16="http://schemas.microsoft.com/office/drawing/2014/main" id="{B7562DD8-C91C-74A4-B87A-ADC716D5C8AF}"/>
              </a:ext>
            </a:extLst>
          </p:cNvPr>
          <p:cNvCxnSpPr>
            <a:stCxn id="56" idx="4"/>
            <a:endCxn id="57" idx="0"/>
          </p:cNvCxnSpPr>
          <p:nvPr/>
        </p:nvCxnSpPr>
        <p:spPr>
          <a:xfrm rot="5400000">
            <a:off x="6806239" y="4433973"/>
            <a:ext cx="359436" cy="71024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>
            <a:extLst>
              <a:ext uri="{FF2B5EF4-FFF2-40B4-BE49-F238E27FC236}">
                <a16:creationId xmlns:a16="http://schemas.microsoft.com/office/drawing/2014/main" id="{03D849F9-DA5C-E67C-EA93-D50F07377ADF}"/>
              </a:ext>
            </a:extLst>
          </p:cNvPr>
          <p:cNvSpPr txBox="1"/>
          <p:nvPr/>
        </p:nvSpPr>
        <p:spPr>
          <a:xfrm>
            <a:off x="4921369" y="5675544"/>
            <a:ext cx="278633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Modified  Virtual DOM</a:t>
            </a:r>
            <a:endParaRPr lang="en-US" b="1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49CC45C-2B5F-9296-E792-305D50EAB6A7}"/>
              </a:ext>
            </a:extLst>
          </p:cNvPr>
          <p:cNvSpPr txBox="1"/>
          <p:nvPr/>
        </p:nvSpPr>
        <p:spPr>
          <a:xfrm>
            <a:off x="4442604" y="6349042"/>
            <a:ext cx="4045788" cy="430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050" b="1" dirty="0"/>
              <a:t>React.js , the React-Dom will compare the Original V-D with Modified V-D</a:t>
            </a:r>
            <a:endParaRPr lang="en-US" sz="1050" b="1" dirty="0"/>
          </a:p>
        </p:txBody>
      </p:sp>
      <p:cxnSp>
        <p:nvCxnSpPr>
          <p:cNvPr id="70" name="Connector: Curved 69">
            <a:extLst>
              <a:ext uri="{FF2B5EF4-FFF2-40B4-BE49-F238E27FC236}">
                <a16:creationId xmlns:a16="http://schemas.microsoft.com/office/drawing/2014/main" id="{805BDBBC-EBE9-8B9B-6ECD-BF422C3F76B9}"/>
              </a:ext>
            </a:extLst>
          </p:cNvPr>
          <p:cNvCxnSpPr>
            <a:stCxn id="56" idx="6"/>
            <a:endCxn id="30" idx="5"/>
          </p:cNvCxnSpPr>
          <p:nvPr/>
        </p:nvCxnSpPr>
        <p:spPr>
          <a:xfrm flipV="1">
            <a:off x="7781025" y="1246250"/>
            <a:ext cx="3548871" cy="3097145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DE8B29CB-795E-269E-F12B-DDD6DB966B10}"/>
              </a:ext>
            </a:extLst>
          </p:cNvPr>
          <p:cNvSpPr txBox="1"/>
          <p:nvPr/>
        </p:nvSpPr>
        <p:spPr>
          <a:xfrm>
            <a:off x="8393502" y="3881887"/>
            <a:ext cx="2717321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Updates are Patched in the rendering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29883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16261D7-1C80-C40F-FE37-A2B8A7697F99}"/>
              </a:ext>
            </a:extLst>
          </p:cNvPr>
          <p:cNvSpPr/>
          <p:nvPr/>
        </p:nvSpPr>
        <p:spPr>
          <a:xfrm>
            <a:off x="553673" y="813732"/>
            <a:ext cx="7331978" cy="507534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7F2E34-433E-5F26-763C-E9B171B351A0}"/>
              </a:ext>
            </a:extLst>
          </p:cNvPr>
          <p:cNvSpPr txBox="1"/>
          <p:nvPr/>
        </p:nvSpPr>
        <p:spPr>
          <a:xfrm>
            <a:off x="687897" y="889233"/>
            <a:ext cx="304520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Parent Component</a:t>
            </a:r>
            <a:endParaRPr lang="en-US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CAB6A08-9A67-CB8F-4D6A-E231A77464C7}"/>
              </a:ext>
            </a:extLst>
          </p:cNvPr>
          <p:cNvSpPr/>
          <p:nvPr/>
        </p:nvSpPr>
        <p:spPr>
          <a:xfrm>
            <a:off x="864066" y="1954635"/>
            <a:ext cx="5629013" cy="318781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14668C-3D74-4C33-EE07-9E3AE6121730}"/>
              </a:ext>
            </a:extLst>
          </p:cNvPr>
          <p:cNvSpPr txBox="1"/>
          <p:nvPr/>
        </p:nvSpPr>
        <p:spPr>
          <a:xfrm>
            <a:off x="1249960" y="2147582"/>
            <a:ext cx="293614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Child Component</a:t>
            </a:r>
            <a:endParaRPr lang="en-US" dirty="0"/>
          </a:p>
        </p:txBody>
      </p:sp>
      <p:sp>
        <p:nvSpPr>
          <p:cNvPr id="6" name="Cylinder 5">
            <a:extLst>
              <a:ext uri="{FF2B5EF4-FFF2-40B4-BE49-F238E27FC236}">
                <a16:creationId xmlns:a16="http://schemas.microsoft.com/office/drawing/2014/main" id="{69DF1658-C8DD-C701-486A-B465DC642EEC}"/>
              </a:ext>
            </a:extLst>
          </p:cNvPr>
          <p:cNvSpPr/>
          <p:nvPr/>
        </p:nvSpPr>
        <p:spPr>
          <a:xfrm>
            <a:off x="9076888" y="1568741"/>
            <a:ext cx="2650921" cy="1770077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810C0C-DA83-83C1-5C3F-544C4FE0F410}"/>
              </a:ext>
            </a:extLst>
          </p:cNvPr>
          <p:cNvSpPr txBox="1"/>
          <p:nvPr/>
        </p:nvSpPr>
        <p:spPr>
          <a:xfrm>
            <a:off x="9303391" y="889233"/>
            <a:ext cx="2334936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Global State</a:t>
            </a:r>
            <a:endParaRPr lang="en-US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6D84D-C0D5-4549-E304-9A773A3C79D9}"/>
              </a:ext>
            </a:extLst>
          </p:cNvPr>
          <p:cNvSpPr txBox="1"/>
          <p:nvPr/>
        </p:nvSpPr>
        <p:spPr>
          <a:xfrm>
            <a:off x="9236279" y="2147582"/>
            <a:ext cx="2340528" cy="738664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dirty="0"/>
              <a:t>+ Data Member for Holding Data</a:t>
            </a:r>
          </a:p>
          <a:p>
            <a:r>
              <a:rPr lang="en-GB" sz="1400" dirty="0"/>
              <a:t>+ Behaviour for  Events</a:t>
            </a:r>
            <a:endParaRPr lang="en-US" sz="1400" dirty="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3251340F-A682-82C5-7C8D-4F2A22B22ACA}"/>
              </a:ext>
            </a:extLst>
          </p:cNvPr>
          <p:cNvCxnSpPr>
            <a:stCxn id="3" idx="3"/>
            <a:endCxn id="6" idx="2"/>
          </p:cNvCxnSpPr>
          <p:nvPr/>
        </p:nvCxnSpPr>
        <p:spPr>
          <a:xfrm>
            <a:off x="3733101" y="1073899"/>
            <a:ext cx="5343787" cy="1379881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40EEA7D-095B-253F-AB23-083C03F88B80}"/>
              </a:ext>
            </a:extLst>
          </p:cNvPr>
          <p:cNvSpPr txBox="1"/>
          <p:nvPr/>
        </p:nvSpPr>
        <p:spPr>
          <a:xfrm>
            <a:off x="4731391" y="1073899"/>
            <a:ext cx="2390862" cy="430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dirty="0"/>
              <a:t>The Data Provider to Context i.e. the Latest Value</a:t>
            </a:r>
            <a:endParaRPr lang="en-US" sz="1100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F1839865-21BE-935C-225D-2366C2ACDEC6}"/>
              </a:ext>
            </a:extLst>
          </p:cNvPr>
          <p:cNvCxnSpPr>
            <a:stCxn id="5" idx="3"/>
            <a:endCxn id="8" idx="2"/>
          </p:cNvCxnSpPr>
          <p:nvPr/>
        </p:nvCxnSpPr>
        <p:spPr>
          <a:xfrm>
            <a:off x="4186106" y="2332248"/>
            <a:ext cx="6220437" cy="553998"/>
          </a:xfrm>
          <a:prstGeom prst="curvedConnector4">
            <a:avLst>
              <a:gd name="adj1" fmla="val 40593"/>
              <a:gd name="adj2" fmla="val 141264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1BB5318E-7C03-47DE-82E9-6C65C32CF482}"/>
              </a:ext>
            </a:extLst>
          </p:cNvPr>
          <p:cNvSpPr txBox="1"/>
          <p:nvPr/>
        </p:nvSpPr>
        <p:spPr>
          <a:xfrm>
            <a:off x="6769916" y="2776756"/>
            <a:ext cx="215597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dirty="0"/>
              <a:t>Subscription to the Context</a:t>
            </a:r>
            <a:endParaRPr lang="en-US" sz="1200" dirty="0"/>
          </a:p>
        </p:txBody>
      </p: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FBC9F040-6942-4294-C639-00BC67C250A1}"/>
              </a:ext>
            </a:extLst>
          </p:cNvPr>
          <p:cNvCxnSpPr>
            <a:cxnSpLocks/>
            <a:stCxn id="8" idx="2"/>
            <a:endCxn id="17" idx="3"/>
          </p:cNvCxnSpPr>
          <p:nvPr/>
        </p:nvCxnSpPr>
        <p:spPr>
          <a:xfrm rot="5400000">
            <a:off x="7118691" y="498946"/>
            <a:ext cx="900552" cy="5675152"/>
          </a:xfrm>
          <a:prstGeom prst="curvedConnector2">
            <a:avLst/>
          </a:prstGeom>
          <a:ln w="19050" cap="flat" cmpd="sng" algn="ctr">
            <a:solidFill>
              <a:schemeClr val="accent4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5F15262-3077-4CC3-2DC3-DEE46AD709EC}"/>
              </a:ext>
            </a:extLst>
          </p:cNvPr>
          <p:cNvSpPr/>
          <p:nvPr/>
        </p:nvSpPr>
        <p:spPr>
          <a:xfrm>
            <a:off x="2835479" y="3429000"/>
            <a:ext cx="1895912" cy="7155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from The Context</a:t>
            </a:r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FB79D19-D9AB-77D8-82C0-170343A492F9}"/>
              </a:ext>
            </a:extLst>
          </p:cNvPr>
          <p:cNvSpPr txBox="1"/>
          <p:nvPr/>
        </p:nvSpPr>
        <p:spPr>
          <a:xfrm>
            <a:off x="8791662" y="3951215"/>
            <a:ext cx="2650921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1200" dirty="0"/>
              <a:t>The State is Maintained out of the Component.</a:t>
            </a:r>
          </a:p>
          <a:p>
            <a:pPr marL="342900" indent="-342900">
              <a:buAutoNum type="arabicPeriod"/>
            </a:pPr>
            <a:r>
              <a:rPr lang="en-GB" sz="1200" dirty="0"/>
              <a:t>Only the Subscriber will be able to read data from the Context</a:t>
            </a:r>
          </a:p>
          <a:p>
            <a:pPr marL="342900" indent="-342900">
              <a:buAutoNum type="arabicPeriod"/>
            </a:pPr>
            <a:r>
              <a:rPr lang="en-US" sz="1200" dirty="0"/>
              <a:t>The </a:t>
            </a:r>
            <a:r>
              <a:rPr lang="en-US" sz="1200" dirty="0" err="1"/>
              <a:t>Paarent</a:t>
            </a:r>
            <a:r>
              <a:rPr lang="en-US" sz="1200" dirty="0"/>
              <a:t> can decide to whom data to </a:t>
            </a:r>
            <a:r>
              <a:rPr lang="en-US" sz="1200"/>
              <a:t>be sent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6804733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37060F5-EEC2-F4C4-72A0-55020E48674B}"/>
              </a:ext>
            </a:extLst>
          </p:cNvPr>
          <p:cNvSpPr/>
          <p:nvPr/>
        </p:nvSpPr>
        <p:spPr>
          <a:xfrm>
            <a:off x="336430" y="241540"/>
            <a:ext cx="1509623" cy="6443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JS</a:t>
            </a:r>
          </a:p>
          <a:p>
            <a:pPr algn="ctr"/>
            <a:r>
              <a:rPr lang="en-GB" dirty="0"/>
              <a:t>Client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87B3046-17B0-683B-F093-DB273E8DB142}"/>
              </a:ext>
            </a:extLst>
          </p:cNvPr>
          <p:cNvSpPr/>
          <p:nvPr/>
        </p:nvSpPr>
        <p:spPr>
          <a:xfrm>
            <a:off x="8494143" y="241540"/>
            <a:ext cx="1509623" cy="644393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Server</a:t>
            </a:r>
          </a:p>
          <a:p>
            <a:pPr algn="ctr"/>
            <a:r>
              <a:rPr lang="en-GB" dirty="0"/>
              <a:t>Side</a:t>
            </a:r>
          </a:p>
          <a:p>
            <a:pPr algn="ctr"/>
            <a:r>
              <a:rPr lang="en-GB" dirty="0"/>
              <a:t>APIs</a:t>
            </a:r>
            <a:endParaRPr lang="en-US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F781BE94-C9D7-76BC-2D30-4FF78C87A69A}"/>
              </a:ext>
            </a:extLst>
          </p:cNvPr>
          <p:cNvSpPr/>
          <p:nvPr/>
        </p:nvSpPr>
        <p:spPr>
          <a:xfrm>
            <a:off x="10481094" y="1311215"/>
            <a:ext cx="1509623" cy="82813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SQL</a:t>
            </a:r>
            <a:endParaRPr lang="en-US" dirty="0"/>
          </a:p>
        </p:txBody>
      </p:sp>
      <p:sp>
        <p:nvSpPr>
          <p:cNvPr id="5" name="Cylinder 4">
            <a:extLst>
              <a:ext uri="{FF2B5EF4-FFF2-40B4-BE49-F238E27FC236}">
                <a16:creationId xmlns:a16="http://schemas.microsoft.com/office/drawing/2014/main" id="{67161A45-9021-C1A2-A10A-FABE3403C418}"/>
              </a:ext>
            </a:extLst>
          </p:cNvPr>
          <p:cNvSpPr/>
          <p:nvPr/>
        </p:nvSpPr>
        <p:spPr>
          <a:xfrm>
            <a:off x="10481093" y="2817962"/>
            <a:ext cx="1509623" cy="82813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NoSQL</a:t>
            </a:r>
            <a:endParaRPr lang="en-US" dirty="0"/>
          </a:p>
        </p:txBody>
      </p:sp>
      <p:sp>
        <p:nvSpPr>
          <p:cNvPr id="6" name="Flowchart: Multidocument 5">
            <a:extLst>
              <a:ext uri="{FF2B5EF4-FFF2-40B4-BE49-F238E27FC236}">
                <a16:creationId xmlns:a16="http://schemas.microsoft.com/office/drawing/2014/main" id="{7710662D-1722-3F0A-AFD7-52398479DE57}"/>
              </a:ext>
            </a:extLst>
          </p:cNvPr>
          <p:cNvSpPr/>
          <p:nvPr/>
        </p:nvSpPr>
        <p:spPr>
          <a:xfrm>
            <a:off x="10593238" y="4244196"/>
            <a:ext cx="1397479" cy="1224951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BLOB</a:t>
            </a:r>
            <a:endParaRPr lang="en-US" dirty="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939885A-5CA8-161D-A93B-B8BCBFAF6DB5}"/>
              </a:ext>
            </a:extLst>
          </p:cNvPr>
          <p:cNvSpPr/>
          <p:nvPr/>
        </p:nvSpPr>
        <p:spPr>
          <a:xfrm>
            <a:off x="1846053" y="1423358"/>
            <a:ext cx="6648090" cy="78500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1. HTTP Request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9DD0E9-075C-41B2-2A4B-250CF6599125}"/>
              </a:ext>
            </a:extLst>
          </p:cNvPr>
          <p:cNvSpPr txBox="1"/>
          <p:nvPr/>
        </p:nvSpPr>
        <p:spPr>
          <a:xfrm>
            <a:off x="8609162" y="1587260"/>
            <a:ext cx="11386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2. Accept the Request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9248B541-3317-0D17-9659-590ADF3024EF}"/>
              </a:ext>
            </a:extLst>
          </p:cNvPr>
          <p:cNvSpPr/>
          <p:nvPr/>
        </p:nvSpPr>
        <p:spPr>
          <a:xfrm>
            <a:off x="9747849" y="1587260"/>
            <a:ext cx="845389" cy="40544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US" dirty="0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96007F37-8820-C957-E650-7D92923F847F}"/>
              </a:ext>
            </a:extLst>
          </p:cNvPr>
          <p:cNvSpPr/>
          <p:nvPr/>
        </p:nvSpPr>
        <p:spPr>
          <a:xfrm>
            <a:off x="9747849" y="2964611"/>
            <a:ext cx="733244" cy="46438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US" dirty="0"/>
          </a:p>
        </p:txBody>
      </p:sp>
      <p:sp>
        <p:nvSpPr>
          <p:cNvPr id="11" name="Arrow: Left-Right 10">
            <a:extLst>
              <a:ext uri="{FF2B5EF4-FFF2-40B4-BE49-F238E27FC236}">
                <a16:creationId xmlns:a16="http://schemas.microsoft.com/office/drawing/2014/main" id="{1387064A-70DD-F8D5-A4F0-FE4212EAB562}"/>
              </a:ext>
            </a:extLst>
          </p:cNvPr>
          <p:cNvSpPr/>
          <p:nvPr/>
        </p:nvSpPr>
        <p:spPr>
          <a:xfrm>
            <a:off x="9877245" y="4779034"/>
            <a:ext cx="992038" cy="40544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A73E6B-8E9C-99F1-BF0D-81FC6D5B9146}"/>
              </a:ext>
            </a:extLst>
          </p:cNvPr>
          <p:cNvSpPr txBox="1"/>
          <p:nvPr/>
        </p:nvSpPr>
        <p:spPr>
          <a:xfrm>
            <a:off x="8695426" y="4425351"/>
            <a:ext cx="99203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>
                <a:solidFill>
                  <a:schemeClr val="bg1"/>
                </a:solidFill>
              </a:rPr>
              <a:t>4. Time Bound Execution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3" name="Arrow: Curved Down 12">
            <a:extLst>
              <a:ext uri="{FF2B5EF4-FFF2-40B4-BE49-F238E27FC236}">
                <a16:creationId xmlns:a16="http://schemas.microsoft.com/office/drawing/2014/main" id="{AC035346-0F7E-422C-3721-78FC5F5AFBCD}"/>
              </a:ext>
            </a:extLst>
          </p:cNvPr>
          <p:cNvSpPr/>
          <p:nvPr/>
        </p:nvSpPr>
        <p:spPr>
          <a:xfrm>
            <a:off x="2613804" y="2964611"/>
            <a:ext cx="5063705" cy="1132936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Arrow: Curved Down 13">
            <a:extLst>
              <a:ext uri="{FF2B5EF4-FFF2-40B4-BE49-F238E27FC236}">
                <a16:creationId xmlns:a16="http://schemas.microsoft.com/office/drawing/2014/main" id="{FD94175A-FFF7-2C91-7764-AAE29769B955}"/>
              </a:ext>
            </a:extLst>
          </p:cNvPr>
          <p:cNvSpPr/>
          <p:nvPr/>
        </p:nvSpPr>
        <p:spPr>
          <a:xfrm rot="10576682">
            <a:off x="2469368" y="4618007"/>
            <a:ext cx="5063705" cy="1132936"/>
          </a:xfrm>
          <a:prstGeom prst="curved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7A2847-F0B6-A52F-B294-9B20AB9D8200}"/>
              </a:ext>
            </a:extLst>
          </p:cNvPr>
          <p:cNvSpPr txBox="1"/>
          <p:nvPr/>
        </p:nvSpPr>
        <p:spPr>
          <a:xfrm>
            <a:off x="3519577" y="3925019"/>
            <a:ext cx="34764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/>
              <a:t>5. Delayed Execution because the Server May Take time to call DB, BLOBs, this will keep the Browser in Waiting  Condition</a:t>
            </a:r>
            <a:endParaRPr lang="en-US" b="1" dirty="0"/>
          </a:p>
        </p:txBody>
      </p:sp>
      <p:sp>
        <p:nvSpPr>
          <p:cNvPr id="16" name="Arrow: Left 15">
            <a:extLst>
              <a:ext uri="{FF2B5EF4-FFF2-40B4-BE49-F238E27FC236}">
                <a16:creationId xmlns:a16="http://schemas.microsoft.com/office/drawing/2014/main" id="{E0BEDD23-D1DA-E4C8-F350-EBD78155A093}"/>
              </a:ext>
            </a:extLst>
          </p:cNvPr>
          <p:cNvSpPr/>
          <p:nvPr/>
        </p:nvSpPr>
        <p:spPr>
          <a:xfrm>
            <a:off x="1846053" y="5693434"/>
            <a:ext cx="6648090" cy="78500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6. Delay response when the data is available</a:t>
            </a:r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3FEA37D-33E9-0DDF-A139-A096D4F5369F}"/>
              </a:ext>
            </a:extLst>
          </p:cNvPr>
          <p:cNvSpPr/>
          <p:nvPr/>
        </p:nvSpPr>
        <p:spPr>
          <a:xfrm>
            <a:off x="1476408" y="1604513"/>
            <a:ext cx="378702" cy="469277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W</a:t>
            </a:r>
          </a:p>
          <a:p>
            <a:pPr algn="ctr"/>
            <a:r>
              <a:rPr lang="en-GB" dirty="0"/>
              <a:t>A</a:t>
            </a:r>
          </a:p>
          <a:p>
            <a:pPr algn="ctr"/>
            <a:r>
              <a:rPr lang="en-GB" dirty="0"/>
              <a:t>I</a:t>
            </a:r>
          </a:p>
          <a:p>
            <a:pPr algn="ctr"/>
            <a:r>
              <a:rPr lang="en-GB" dirty="0"/>
              <a:t>T</a:t>
            </a:r>
          </a:p>
          <a:p>
            <a:pPr algn="ctr"/>
            <a:r>
              <a:rPr lang="en-GB" dirty="0"/>
              <a:t>I</a:t>
            </a:r>
          </a:p>
          <a:p>
            <a:pPr algn="ctr"/>
            <a:r>
              <a:rPr lang="en-GB" dirty="0"/>
              <a:t>N</a:t>
            </a:r>
          </a:p>
          <a:p>
            <a:pPr algn="ctr"/>
            <a:r>
              <a:rPr lang="en-GB" dirty="0"/>
              <a:t>G</a:t>
            </a:r>
          </a:p>
          <a:p>
            <a:pPr algn="ctr"/>
            <a:endParaRPr lang="en-GB" dirty="0"/>
          </a:p>
          <a:p>
            <a:pPr algn="ctr"/>
            <a:r>
              <a:rPr lang="en-GB" dirty="0"/>
              <a:t>T</a:t>
            </a:r>
          </a:p>
          <a:p>
            <a:pPr algn="ctr"/>
            <a:r>
              <a:rPr lang="en-GB" dirty="0"/>
              <a:t>I</a:t>
            </a:r>
          </a:p>
          <a:p>
            <a:pPr algn="ctr"/>
            <a:r>
              <a:rPr lang="en-GB" dirty="0"/>
              <a:t>M</a:t>
            </a:r>
          </a:p>
          <a:p>
            <a:pPr algn="ctr"/>
            <a:r>
              <a:rPr lang="en-GB" dirty="0"/>
              <a:t>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25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486C19F-8A34-D5FD-0E7F-049F74CD345E}"/>
              </a:ext>
            </a:extLst>
          </p:cNvPr>
          <p:cNvSpPr/>
          <p:nvPr/>
        </p:nvSpPr>
        <p:spPr>
          <a:xfrm>
            <a:off x="198408" y="103517"/>
            <a:ext cx="1483743" cy="6573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C</a:t>
            </a:r>
          </a:p>
          <a:p>
            <a:pPr algn="ctr"/>
            <a:r>
              <a:rPr lang="en-GB" b="1" dirty="0"/>
              <a:t>L</a:t>
            </a:r>
          </a:p>
          <a:p>
            <a:pPr algn="ctr"/>
            <a:r>
              <a:rPr lang="en-GB" b="1" dirty="0"/>
              <a:t>I</a:t>
            </a:r>
          </a:p>
          <a:p>
            <a:pPr algn="ctr"/>
            <a:r>
              <a:rPr lang="en-GB" b="1" dirty="0"/>
              <a:t>E</a:t>
            </a:r>
          </a:p>
          <a:p>
            <a:pPr algn="ctr"/>
            <a:r>
              <a:rPr lang="en-GB" b="1" dirty="0"/>
              <a:t>N</a:t>
            </a:r>
          </a:p>
          <a:p>
            <a:pPr algn="ctr"/>
            <a:r>
              <a:rPr lang="en-GB" b="1" dirty="0"/>
              <a:t>T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133B0AD-4D10-536E-0F47-2DA9AFB36E69}"/>
              </a:ext>
            </a:extLst>
          </p:cNvPr>
          <p:cNvSpPr/>
          <p:nvPr/>
        </p:nvSpPr>
        <p:spPr>
          <a:xfrm>
            <a:off x="10443713" y="142336"/>
            <a:ext cx="1483743" cy="6573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</a:t>
            </a:r>
          </a:p>
          <a:p>
            <a:pPr algn="ctr"/>
            <a:r>
              <a:rPr lang="en-GB" b="1" dirty="0"/>
              <a:t>E</a:t>
            </a:r>
          </a:p>
          <a:p>
            <a:pPr algn="ctr"/>
            <a:r>
              <a:rPr lang="en-GB" b="1" dirty="0"/>
              <a:t>R</a:t>
            </a:r>
          </a:p>
          <a:p>
            <a:pPr algn="ctr"/>
            <a:r>
              <a:rPr lang="en-GB" b="1" dirty="0"/>
              <a:t>V</a:t>
            </a:r>
          </a:p>
          <a:p>
            <a:pPr algn="ctr"/>
            <a:r>
              <a:rPr lang="en-GB" b="1" dirty="0"/>
              <a:t>E</a:t>
            </a:r>
          </a:p>
          <a:p>
            <a:pPr algn="ctr"/>
            <a:r>
              <a:rPr lang="en-GB" b="1" dirty="0"/>
              <a:t>R</a:t>
            </a:r>
            <a:endParaRPr lang="en-US" b="1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9DEE3978-455A-96F2-FB5E-0C140C495AC7}"/>
              </a:ext>
            </a:extLst>
          </p:cNvPr>
          <p:cNvSpPr/>
          <p:nvPr/>
        </p:nvSpPr>
        <p:spPr>
          <a:xfrm>
            <a:off x="1682151" y="232913"/>
            <a:ext cx="8738558" cy="569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1. Client Makes a HTTP Call to Server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2D0995-16ED-2877-2E35-A252BF1FA293}"/>
              </a:ext>
            </a:extLst>
          </p:cNvPr>
          <p:cNvSpPr/>
          <p:nvPr/>
        </p:nvSpPr>
        <p:spPr>
          <a:xfrm>
            <a:off x="10509849" y="422694"/>
            <a:ext cx="1394602" cy="11386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200" dirty="0"/>
              <a:t>2. Server Accept request and Send</a:t>
            </a:r>
          </a:p>
          <a:p>
            <a:pPr algn="ctr"/>
            <a:r>
              <a:rPr lang="en-GB" sz="1200" dirty="0"/>
              <a:t>Acknowledgement  </a:t>
            </a:r>
            <a:endParaRPr lang="en-US" sz="1200" dirty="0"/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F35A5EAD-27F6-3192-3B77-350AD8A95E7D}"/>
              </a:ext>
            </a:extLst>
          </p:cNvPr>
          <p:cNvSpPr/>
          <p:nvPr/>
        </p:nvSpPr>
        <p:spPr>
          <a:xfrm>
            <a:off x="5589917" y="1147313"/>
            <a:ext cx="4830791" cy="569344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3. Acknowledgement</a:t>
            </a:r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36E56DD-4590-0E99-DCDE-D987F3ED9C10}"/>
              </a:ext>
            </a:extLst>
          </p:cNvPr>
          <p:cNvSpPr/>
          <p:nvPr/>
        </p:nvSpPr>
        <p:spPr>
          <a:xfrm>
            <a:off x="3968151" y="966158"/>
            <a:ext cx="1598761" cy="10783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The Promise Object</a:t>
            </a:r>
            <a:endParaRPr lang="en-US" b="1" dirty="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3488D4BE-0ABF-D44A-4046-A493EC3512A5}"/>
              </a:ext>
            </a:extLst>
          </p:cNvPr>
          <p:cNvSpPr/>
          <p:nvPr/>
        </p:nvSpPr>
        <p:spPr>
          <a:xfrm>
            <a:off x="1682151" y="1147313"/>
            <a:ext cx="2262995" cy="56934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4. Subscribe to Promise</a:t>
            </a:r>
            <a:endParaRPr lang="en-US" sz="1200" b="1" dirty="0"/>
          </a:p>
        </p:txBody>
      </p:sp>
      <p:sp>
        <p:nvSpPr>
          <p:cNvPr id="9" name="Arrow: Bent-Up 8">
            <a:extLst>
              <a:ext uri="{FF2B5EF4-FFF2-40B4-BE49-F238E27FC236}">
                <a16:creationId xmlns:a16="http://schemas.microsoft.com/office/drawing/2014/main" id="{0366F1F3-D0D4-9EE2-5A93-F488BDC2E799}"/>
              </a:ext>
            </a:extLst>
          </p:cNvPr>
          <p:cNvSpPr/>
          <p:nvPr/>
        </p:nvSpPr>
        <p:spPr>
          <a:xfrm rot="5400000">
            <a:off x="7610652" y="53916"/>
            <a:ext cx="1302591" cy="4317522"/>
          </a:xfrm>
          <a:prstGeom prst="bentUpArrow">
            <a:avLst>
              <a:gd name="adj1" fmla="val 25000"/>
              <a:gd name="adj2" fmla="val 24656"/>
              <a:gd name="adj3" fmla="val 25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3D552B5-38B2-F350-CA9F-89EE4605E5CE}"/>
              </a:ext>
            </a:extLst>
          </p:cNvPr>
          <p:cNvSpPr txBox="1"/>
          <p:nvPr/>
        </p:nvSpPr>
        <p:spPr>
          <a:xfrm>
            <a:off x="6504317" y="1716657"/>
            <a:ext cx="3683479" cy="646331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5.a. Promise Waits for the Response from Server</a:t>
            </a:r>
            <a:endParaRPr lang="en-US" b="1" dirty="0"/>
          </a:p>
        </p:txBody>
      </p:sp>
      <p:sp>
        <p:nvSpPr>
          <p:cNvPr id="11" name="Arrow: Down 10">
            <a:extLst>
              <a:ext uri="{FF2B5EF4-FFF2-40B4-BE49-F238E27FC236}">
                <a16:creationId xmlns:a16="http://schemas.microsoft.com/office/drawing/2014/main" id="{5FB025A0-616B-DF3C-8B21-13C48628454A}"/>
              </a:ext>
            </a:extLst>
          </p:cNvPr>
          <p:cNvSpPr/>
          <p:nvPr/>
        </p:nvSpPr>
        <p:spPr>
          <a:xfrm>
            <a:off x="1147313" y="1397479"/>
            <a:ext cx="534837" cy="326941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5.b</a:t>
            </a:r>
            <a:endParaRPr lang="en-US" b="1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579CAF-2294-4914-292E-362A7EA0A07A}"/>
              </a:ext>
            </a:extLst>
          </p:cNvPr>
          <p:cNvSpPr txBox="1"/>
          <p:nvPr/>
        </p:nvSpPr>
        <p:spPr>
          <a:xfrm>
            <a:off x="668545" y="1570007"/>
            <a:ext cx="861205" cy="73866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050" b="1" dirty="0"/>
              <a:t>Client</a:t>
            </a:r>
          </a:p>
          <a:p>
            <a:r>
              <a:rPr lang="en-GB" sz="1050" b="1" dirty="0"/>
              <a:t>Continue its execution</a:t>
            </a:r>
            <a:endParaRPr lang="en-US" sz="1050" b="1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9BC44E5-4572-1FC9-881F-2FAFA11F5D2F}"/>
              </a:ext>
            </a:extLst>
          </p:cNvPr>
          <p:cNvSpPr/>
          <p:nvPr/>
        </p:nvSpPr>
        <p:spPr>
          <a:xfrm>
            <a:off x="10601865" y="4416725"/>
            <a:ext cx="1207698" cy="113868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6. Ready response</a:t>
            </a:r>
            <a:endParaRPr lang="en-US" dirty="0"/>
          </a:p>
        </p:txBody>
      </p:sp>
      <p:cxnSp>
        <p:nvCxnSpPr>
          <p:cNvPr id="15" name="Connector: Curved 14">
            <a:extLst>
              <a:ext uri="{FF2B5EF4-FFF2-40B4-BE49-F238E27FC236}">
                <a16:creationId xmlns:a16="http://schemas.microsoft.com/office/drawing/2014/main" id="{0E1DF1BC-8B02-6D95-871C-6724B1C12580}"/>
              </a:ext>
            </a:extLst>
          </p:cNvPr>
          <p:cNvCxnSpPr>
            <a:stCxn id="13" idx="1"/>
            <a:endCxn id="7" idx="2"/>
          </p:cNvCxnSpPr>
          <p:nvPr/>
        </p:nvCxnSpPr>
        <p:spPr>
          <a:xfrm rot="10800000">
            <a:off x="4767533" y="2044461"/>
            <a:ext cx="5834333" cy="2941609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A9DC939-398A-0F1D-3755-A5252BFAEE4F}"/>
              </a:ext>
            </a:extLst>
          </p:cNvPr>
          <p:cNvSpPr txBox="1"/>
          <p:nvPr/>
        </p:nvSpPr>
        <p:spPr>
          <a:xfrm>
            <a:off x="5486400" y="3429000"/>
            <a:ext cx="326078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7. The Promise that contains, the Success/ Failure</a:t>
            </a:r>
            <a:endParaRPr lang="en-US" b="1" dirty="0"/>
          </a:p>
        </p:txBody>
      </p: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1A644965-1082-B571-B271-AFF79AE7E197}"/>
              </a:ext>
            </a:extLst>
          </p:cNvPr>
          <p:cNvCxnSpPr>
            <a:stCxn id="2" idx="3"/>
            <a:endCxn id="7" idx="2"/>
          </p:cNvCxnSpPr>
          <p:nvPr/>
        </p:nvCxnSpPr>
        <p:spPr>
          <a:xfrm flipV="1">
            <a:off x="1682151" y="2044460"/>
            <a:ext cx="3085381" cy="1345721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27F337E9-9D3D-3A73-51F1-4E7559DACA53}"/>
              </a:ext>
            </a:extLst>
          </p:cNvPr>
          <p:cNvSpPr txBox="1"/>
          <p:nvPr/>
        </p:nvSpPr>
        <p:spPr>
          <a:xfrm>
            <a:off x="1915064" y="3053751"/>
            <a:ext cx="2268747" cy="120032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8. Client Uses the Subscription for the promise to </a:t>
            </a:r>
            <a:r>
              <a:rPr lang="en-GB" b="1" dirty="0" err="1"/>
              <a:t>UnPack</a:t>
            </a:r>
            <a:r>
              <a:rPr lang="en-GB" b="1" dirty="0"/>
              <a:t> The received data</a:t>
            </a:r>
            <a:endParaRPr lang="en-US" b="1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6FC5266-A500-244D-0E11-32F3B874EE94}"/>
              </a:ext>
            </a:extLst>
          </p:cNvPr>
          <p:cNvSpPr txBox="1"/>
          <p:nvPr/>
        </p:nvSpPr>
        <p:spPr>
          <a:xfrm>
            <a:off x="3200400" y="4882551"/>
            <a:ext cx="341606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9. The Data (Success / Failure) Back to Client</a:t>
            </a:r>
            <a:endParaRPr lang="en-US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9C1DCF7-0EF5-04F3-79CD-753AE6908136}"/>
              </a:ext>
            </a:extLst>
          </p:cNvPr>
          <p:cNvCxnSpPr>
            <a:stCxn id="7" idx="2"/>
            <a:endCxn id="20" idx="0"/>
          </p:cNvCxnSpPr>
          <p:nvPr/>
        </p:nvCxnSpPr>
        <p:spPr>
          <a:xfrm>
            <a:off x="4767532" y="2044460"/>
            <a:ext cx="140898" cy="283809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Curved 23">
            <a:extLst>
              <a:ext uri="{FF2B5EF4-FFF2-40B4-BE49-F238E27FC236}">
                <a16:creationId xmlns:a16="http://schemas.microsoft.com/office/drawing/2014/main" id="{B906C90C-3DBE-F7CD-D196-2D98297FC44A}"/>
              </a:ext>
            </a:extLst>
          </p:cNvPr>
          <p:cNvCxnSpPr>
            <a:stCxn id="20" idx="1"/>
            <a:endCxn id="2" idx="3"/>
          </p:cNvCxnSpPr>
          <p:nvPr/>
        </p:nvCxnSpPr>
        <p:spPr>
          <a:xfrm rot="10800000">
            <a:off x="1682152" y="3390181"/>
            <a:ext cx="1518249" cy="1815536"/>
          </a:xfrm>
          <a:prstGeom prst="curvedConnector3">
            <a:avLst>
              <a:gd name="adj1" fmla="val 869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4818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0154FE-5AE0-6A16-42A1-D51CFAC3880E}"/>
              </a:ext>
            </a:extLst>
          </p:cNvPr>
          <p:cNvSpPr txBox="1"/>
          <p:nvPr/>
        </p:nvSpPr>
        <p:spPr>
          <a:xfrm>
            <a:off x="192947" y="109057"/>
            <a:ext cx="1188720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 err="1"/>
              <a:t>useReducer</a:t>
            </a:r>
            <a:r>
              <a:rPr lang="en-GB" b="1" dirty="0"/>
              <a:t> Hooks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57BBA0-003D-E492-1B18-871531CD485A}"/>
              </a:ext>
            </a:extLst>
          </p:cNvPr>
          <p:cNvSpPr/>
          <p:nvPr/>
        </p:nvSpPr>
        <p:spPr>
          <a:xfrm>
            <a:off x="620785" y="931178"/>
            <a:ext cx="2449586" cy="1082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&lt;Component/&gt;</a:t>
            </a:r>
          </a:p>
          <a:p>
            <a:pPr algn="ctr"/>
            <a:r>
              <a:rPr lang="en-GB" b="1" dirty="0" err="1"/>
              <a:t>EventHandler</a:t>
            </a:r>
            <a:r>
              <a:rPr lang="en-GB" b="1" dirty="0"/>
              <a:t> on UI element</a:t>
            </a:r>
            <a:endParaRPr lang="en-US" b="1" dirty="0"/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5662749B-53BA-88FB-B468-5D6F9225408F}"/>
              </a:ext>
            </a:extLst>
          </p:cNvPr>
          <p:cNvSpPr/>
          <p:nvPr/>
        </p:nvSpPr>
        <p:spPr>
          <a:xfrm>
            <a:off x="3070371" y="1233182"/>
            <a:ext cx="4429386" cy="58722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Dispatch(Action) e.g. click, change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22BA808-A748-5FAF-525D-1D45ACAE991C}"/>
              </a:ext>
            </a:extLst>
          </p:cNvPr>
          <p:cNvSpPr/>
          <p:nvPr/>
        </p:nvSpPr>
        <p:spPr>
          <a:xfrm>
            <a:off x="7499758" y="931178"/>
            <a:ext cx="2449586" cy="108218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Action Method()</a:t>
            </a:r>
          </a:p>
          <a:p>
            <a:pPr algn="ctr"/>
            <a:r>
              <a:rPr lang="en-GB" b="1" dirty="0"/>
              <a:t>A function that has ‘type’ and ‘payload’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5D7ED-469C-E47A-775B-A4115BD6722A}"/>
              </a:ext>
            </a:extLst>
          </p:cNvPr>
          <p:cNvSpPr txBox="1"/>
          <p:nvPr/>
        </p:nvSpPr>
        <p:spPr>
          <a:xfrm>
            <a:off x="9949344" y="1694576"/>
            <a:ext cx="2130803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{type:””, payload:}</a:t>
            </a:r>
          </a:p>
          <a:p>
            <a:endParaRPr lang="en-GB" b="1" dirty="0"/>
          </a:p>
          <a:p>
            <a:r>
              <a:rPr lang="en-GB" b="1" dirty="0"/>
              <a:t>Aka Action Object</a:t>
            </a:r>
            <a:endParaRPr lang="en-US" b="1" dirty="0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A99FD9EE-88C6-A267-4842-660BECB16261}"/>
              </a:ext>
            </a:extLst>
          </p:cNvPr>
          <p:cNvSpPr/>
          <p:nvPr/>
        </p:nvSpPr>
        <p:spPr>
          <a:xfrm>
            <a:off x="8481270" y="2013358"/>
            <a:ext cx="713064" cy="268447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L</a:t>
            </a:r>
          </a:p>
          <a:p>
            <a:pPr algn="ctr"/>
            <a:r>
              <a:rPr lang="en-GB" b="1" dirty="0"/>
              <a:t>I</a:t>
            </a:r>
          </a:p>
          <a:p>
            <a:pPr algn="ctr"/>
            <a:r>
              <a:rPr lang="en-GB" b="1" dirty="0"/>
              <a:t>S</a:t>
            </a:r>
          </a:p>
          <a:p>
            <a:pPr algn="ctr"/>
            <a:r>
              <a:rPr lang="en-GB" b="1" dirty="0"/>
              <a:t>T</a:t>
            </a:r>
          </a:p>
          <a:p>
            <a:pPr algn="ctr"/>
            <a:r>
              <a:rPr lang="en-GB" b="1" dirty="0"/>
              <a:t>E</a:t>
            </a:r>
          </a:p>
          <a:p>
            <a:pPr algn="ctr"/>
            <a:r>
              <a:rPr lang="en-GB" b="1" dirty="0"/>
              <a:t>N</a:t>
            </a:r>
            <a:endParaRPr lang="en-US" b="1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728000-4391-CB0C-1767-AA653B2DBD8D}"/>
              </a:ext>
            </a:extLst>
          </p:cNvPr>
          <p:cNvSpPr/>
          <p:nvPr/>
        </p:nvSpPr>
        <p:spPr>
          <a:xfrm>
            <a:off x="7499758" y="4697835"/>
            <a:ext cx="3028425" cy="98990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Reducer, this will have payload based on the type</a:t>
            </a:r>
            <a:endParaRPr lang="en-US" b="1" dirty="0"/>
          </a:p>
        </p:txBody>
      </p:sp>
      <p:sp>
        <p:nvSpPr>
          <p:cNvPr id="9" name="Arrow: Left 8">
            <a:extLst>
              <a:ext uri="{FF2B5EF4-FFF2-40B4-BE49-F238E27FC236}">
                <a16:creationId xmlns:a16="http://schemas.microsoft.com/office/drawing/2014/main" id="{71AE7CF7-6A7E-F088-5EA7-682928E94D5F}"/>
              </a:ext>
            </a:extLst>
          </p:cNvPr>
          <p:cNvSpPr/>
          <p:nvPr/>
        </p:nvSpPr>
        <p:spPr>
          <a:xfrm>
            <a:off x="3070371" y="4697835"/>
            <a:ext cx="4429387" cy="92698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Update the state based on payload</a:t>
            </a:r>
            <a:endParaRPr lang="en-US" b="1" dirty="0"/>
          </a:p>
        </p:txBody>
      </p:sp>
      <p:sp>
        <p:nvSpPr>
          <p:cNvPr id="10" name="Cylinder 9">
            <a:extLst>
              <a:ext uri="{FF2B5EF4-FFF2-40B4-BE49-F238E27FC236}">
                <a16:creationId xmlns:a16="http://schemas.microsoft.com/office/drawing/2014/main" id="{D0776E3F-4F80-ACDB-B586-1EBE249C56BC}"/>
              </a:ext>
            </a:extLst>
          </p:cNvPr>
          <p:cNvSpPr/>
          <p:nvPr/>
        </p:nvSpPr>
        <p:spPr>
          <a:xfrm>
            <a:off x="620785" y="4697835"/>
            <a:ext cx="2449586" cy="108218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State Object</a:t>
            </a:r>
            <a:endParaRPr lang="en-US" b="1" dirty="0"/>
          </a:p>
        </p:txBody>
      </p:sp>
      <p:sp>
        <p:nvSpPr>
          <p:cNvPr id="11" name="Arrow: Up 10">
            <a:extLst>
              <a:ext uri="{FF2B5EF4-FFF2-40B4-BE49-F238E27FC236}">
                <a16:creationId xmlns:a16="http://schemas.microsoft.com/office/drawing/2014/main" id="{9C9BDCAC-32EA-F0A9-BBC2-941D97EC3189}"/>
              </a:ext>
            </a:extLst>
          </p:cNvPr>
          <p:cNvSpPr/>
          <p:nvPr/>
        </p:nvSpPr>
        <p:spPr>
          <a:xfrm>
            <a:off x="1568741" y="2013358"/>
            <a:ext cx="673915" cy="2684477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68B15F-6625-6834-0D76-ADB12CD6DB4B}"/>
              </a:ext>
            </a:extLst>
          </p:cNvPr>
          <p:cNvSpPr txBox="1"/>
          <p:nvPr/>
        </p:nvSpPr>
        <p:spPr>
          <a:xfrm>
            <a:off x="268448" y="3238150"/>
            <a:ext cx="3867324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Pass (bind) state to UI and re-render it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598953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6A34E8D-04D0-4C98-0B23-D05E43DC7843}"/>
              </a:ext>
            </a:extLst>
          </p:cNvPr>
          <p:cNvSpPr/>
          <p:nvPr/>
        </p:nvSpPr>
        <p:spPr>
          <a:xfrm>
            <a:off x="6096000" y="327803"/>
            <a:ext cx="2976113" cy="23981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Server-Side</a:t>
            </a:r>
          </a:p>
          <a:p>
            <a:pPr algn="ctr"/>
            <a:r>
              <a:rPr lang="en-GB" b="1" dirty="0"/>
              <a:t>API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1F925E3-27B7-B6AD-AF0B-776607FF7713}"/>
              </a:ext>
            </a:extLst>
          </p:cNvPr>
          <p:cNvSpPr/>
          <p:nvPr/>
        </p:nvSpPr>
        <p:spPr>
          <a:xfrm>
            <a:off x="6078748" y="905773"/>
            <a:ext cx="845388" cy="1164566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2. Data</a:t>
            </a:r>
          </a:p>
          <a:p>
            <a:pPr algn="ctr"/>
            <a:r>
              <a:rPr lang="en-GB" sz="1100" b="1" dirty="0"/>
              <a:t>Valid</a:t>
            </a:r>
          </a:p>
          <a:p>
            <a:pPr algn="ctr"/>
            <a:r>
              <a:rPr lang="en-GB" sz="1100" b="1" dirty="0"/>
              <a:t>Layer</a:t>
            </a:r>
            <a:endParaRPr lang="en-US" sz="1100" b="1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CB077755-D96B-9659-5D00-D2FF4E6E4215}"/>
              </a:ext>
            </a:extLst>
          </p:cNvPr>
          <p:cNvSpPr/>
          <p:nvPr/>
        </p:nvSpPr>
        <p:spPr>
          <a:xfrm>
            <a:off x="10248181" y="979098"/>
            <a:ext cx="1802921" cy="1095555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RDBMS</a:t>
            </a:r>
          </a:p>
          <a:p>
            <a:pPr algn="ctr"/>
            <a:r>
              <a:rPr lang="en-GB" sz="1200" b="1" dirty="0"/>
              <a:t>Db </a:t>
            </a:r>
          </a:p>
          <a:p>
            <a:pPr algn="ctr"/>
            <a:r>
              <a:rPr lang="en-GB" sz="1200" b="1" dirty="0"/>
              <a:t>1. Constraints aka</a:t>
            </a:r>
          </a:p>
          <a:p>
            <a:pPr algn="ctr"/>
            <a:r>
              <a:rPr lang="en-GB" sz="1200" b="1" dirty="0"/>
              <a:t>Validations</a:t>
            </a:r>
            <a:endParaRPr lang="en-US" sz="1200" b="1" dirty="0"/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6E37BE30-8123-42B5-0890-174FED0B2853}"/>
              </a:ext>
            </a:extLst>
          </p:cNvPr>
          <p:cNvCxnSpPr>
            <a:stCxn id="2" idx="3"/>
            <a:endCxn id="4" idx="1"/>
          </p:cNvCxnSpPr>
          <p:nvPr/>
        </p:nvCxnSpPr>
        <p:spPr>
          <a:xfrm flipV="1">
            <a:off x="9072113" y="979098"/>
            <a:ext cx="2077529" cy="547777"/>
          </a:xfrm>
          <a:prstGeom prst="bentConnector4">
            <a:avLst>
              <a:gd name="adj1" fmla="val 28304"/>
              <a:gd name="adj2" fmla="val 26063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9A5D50B7-A591-F088-526B-E7C2F179A86D}"/>
              </a:ext>
            </a:extLst>
          </p:cNvPr>
          <p:cNvCxnSpPr>
            <a:stCxn id="4" idx="3"/>
            <a:endCxn id="2" idx="3"/>
          </p:cNvCxnSpPr>
          <p:nvPr/>
        </p:nvCxnSpPr>
        <p:spPr>
          <a:xfrm rot="5400000" flipH="1">
            <a:off x="9836989" y="762000"/>
            <a:ext cx="547778" cy="2077529"/>
          </a:xfrm>
          <a:prstGeom prst="bentConnector4">
            <a:avLst>
              <a:gd name="adj1" fmla="val -41732"/>
              <a:gd name="adj2" fmla="val 7169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2D8E1D1F-CCE2-8820-EDB5-5BBE05CC2F50}"/>
              </a:ext>
            </a:extLst>
          </p:cNvPr>
          <p:cNvSpPr/>
          <p:nvPr/>
        </p:nvSpPr>
        <p:spPr>
          <a:xfrm>
            <a:off x="3001991" y="4011284"/>
            <a:ext cx="2976113" cy="1664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Front-End App that is Deployed on separate server</a:t>
            </a:r>
            <a:endParaRPr lang="en-US" b="1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9F75CD-912E-9FDF-5902-55DD4A4FD01F}"/>
              </a:ext>
            </a:extLst>
          </p:cNvPr>
          <p:cNvSpPr/>
          <p:nvPr/>
        </p:nvSpPr>
        <p:spPr>
          <a:xfrm>
            <a:off x="465826" y="1708030"/>
            <a:ext cx="2449902" cy="135434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Browser</a:t>
            </a:r>
          </a:p>
          <a:p>
            <a:pPr algn="ctr"/>
            <a:r>
              <a:rPr lang="en-GB" b="1" dirty="0"/>
              <a:t>3. JS with Front-End Data Validation</a:t>
            </a:r>
            <a:endParaRPr lang="en-US" b="1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0BF94212-CABD-4C73-9F2F-3BE082E04B39}"/>
              </a:ext>
            </a:extLst>
          </p:cNvPr>
          <p:cNvCxnSpPr>
            <a:stCxn id="14" idx="2"/>
            <a:endCxn id="13" idx="1"/>
          </p:cNvCxnSpPr>
          <p:nvPr/>
        </p:nvCxnSpPr>
        <p:spPr>
          <a:xfrm rot="16200000" flipH="1">
            <a:off x="1455706" y="3297448"/>
            <a:ext cx="1781356" cy="13112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B7385493-647D-144E-3039-508D7C51921B}"/>
              </a:ext>
            </a:extLst>
          </p:cNvPr>
          <p:cNvSpPr txBox="1"/>
          <p:nvPr/>
        </p:nvSpPr>
        <p:spPr>
          <a:xfrm>
            <a:off x="1138687" y="3692106"/>
            <a:ext cx="131121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HTTP request</a:t>
            </a:r>
            <a:endParaRPr lang="en-US" b="1" dirty="0"/>
          </a:p>
        </p:txBody>
      </p: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415A5247-1C5C-628A-5869-B7ED730B8AA2}"/>
              </a:ext>
            </a:extLst>
          </p:cNvPr>
          <p:cNvCxnSpPr>
            <a:stCxn id="13" idx="0"/>
            <a:endCxn id="14" idx="3"/>
          </p:cNvCxnSpPr>
          <p:nvPr/>
        </p:nvCxnSpPr>
        <p:spPr>
          <a:xfrm rot="16200000" flipV="1">
            <a:off x="2889848" y="2411084"/>
            <a:ext cx="1626080" cy="157432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3A9FF417-F2D8-673F-DBBA-CB37E5046526}"/>
              </a:ext>
            </a:extLst>
          </p:cNvPr>
          <p:cNvSpPr txBox="1"/>
          <p:nvPr/>
        </p:nvSpPr>
        <p:spPr>
          <a:xfrm>
            <a:off x="3748176" y="3062377"/>
            <a:ext cx="1311215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Response with CSS, JS and DOM</a:t>
            </a:r>
            <a:endParaRPr lang="en-US" sz="1200" b="1" dirty="0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F543873-BDE2-8B8D-AB96-DD9095A99994}"/>
              </a:ext>
            </a:extLst>
          </p:cNvPr>
          <p:cNvCxnSpPr>
            <a:endCxn id="14" idx="0"/>
          </p:cNvCxnSpPr>
          <p:nvPr/>
        </p:nvCxnSpPr>
        <p:spPr>
          <a:xfrm>
            <a:off x="1414732" y="405442"/>
            <a:ext cx="276045" cy="13025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B81EA0B-16AE-B966-1DF1-CA7E15D20AF4}"/>
              </a:ext>
            </a:extLst>
          </p:cNvPr>
          <p:cNvSpPr txBox="1"/>
          <p:nvPr/>
        </p:nvSpPr>
        <p:spPr>
          <a:xfrm>
            <a:off x="862642" y="750498"/>
            <a:ext cx="1293962" cy="43088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050" b="1" dirty="0"/>
              <a:t>Input Request with Data</a:t>
            </a:r>
            <a:endParaRPr lang="en-US" sz="1050" b="1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DCF07AF-FF8E-F4DC-3437-D3B4BDE76F72}"/>
              </a:ext>
            </a:extLst>
          </p:cNvPr>
          <p:cNvSpPr txBox="1"/>
          <p:nvPr/>
        </p:nvSpPr>
        <p:spPr>
          <a:xfrm>
            <a:off x="2613804" y="1311215"/>
            <a:ext cx="1387414" cy="430887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100" dirty="0"/>
              <a:t>Front-End MUST Validate Data</a:t>
            </a:r>
            <a:endParaRPr lang="en-US" sz="1100" dirty="0"/>
          </a:p>
        </p:txBody>
      </p:sp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41200306-D6B1-6814-C8DE-FDC2002C7EB2}"/>
              </a:ext>
            </a:extLst>
          </p:cNvPr>
          <p:cNvCxnSpPr>
            <a:stCxn id="14" idx="3"/>
            <a:endCxn id="3" idx="1"/>
          </p:cNvCxnSpPr>
          <p:nvPr/>
        </p:nvCxnSpPr>
        <p:spPr>
          <a:xfrm flipV="1">
            <a:off x="2915728" y="1488056"/>
            <a:ext cx="3163020" cy="89714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89EA762-1978-3399-F047-F929CDFEC76B}"/>
              </a:ext>
            </a:extLst>
          </p:cNvPr>
          <p:cNvSpPr txBox="1"/>
          <p:nvPr/>
        </p:nvSpPr>
        <p:spPr>
          <a:xfrm>
            <a:off x="4540372" y="1311215"/>
            <a:ext cx="1387414" cy="430887"/>
          </a:xfrm>
          <a:prstGeom prst="rect">
            <a:avLst/>
          </a:prstGeom>
          <a:ln>
            <a:prstDash val="sys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100" dirty="0"/>
              <a:t>Only valid data will be sent to Server</a:t>
            </a:r>
            <a:endParaRPr lang="en-US" sz="11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DFBC0EB-9ACF-962A-D270-10325796B4CE}"/>
              </a:ext>
            </a:extLst>
          </p:cNvPr>
          <p:cNvSpPr txBox="1"/>
          <p:nvPr/>
        </p:nvSpPr>
        <p:spPr>
          <a:xfrm>
            <a:off x="7194430" y="4192438"/>
            <a:ext cx="435634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Data Validation Workflow in Modern Applications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40347182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EB416E-52A4-5E06-08BE-C4A574455A8D}"/>
              </a:ext>
            </a:extLst>
          </p:cNvPr>
          <p:cNvSpPr/>
          <p:nvPr/>
        </p:nvSpPr>
        <p:spPr>
          <a:xfrm>
            <a:off x="755009" y="494950"/>
            <a:ext cx="10654019" cy="6014907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328D9F-FBD4-2932-F1D6-5D12B82A64D7}"/>
              </a:ext>
            </a:extLst>
          </p:cNvPr>
          <p:cNvSpPr txBox="1"/>
          <p:nvPr/>
        </p:nvSpPr>
        <p:spPr>
          <a:xfrm>
            <a:off x="847288" y="587229"/>
            <a:ext cx="297809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Parent Component</a:t>
            </a:r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A7E592-6F5B-D383-9593-2D3728DF4837}"/>
              </a:ext>
            </a:extLst>
          </p:cNvPr>
          <p:cNvSpPr txBox="1"/>
          <p:nvPr/>
        </p:nvSpPr>
        <p:spPr>
          <a:xfrm>
            <a:off x="4832059" y="796954"/>
            <a:ext cx="609879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err="1"/>
              <a:t>Const</a:t>
            </a:r>
            <a:r>
              <a:rPr lang="en-GB" dirty="0"/>
              <a:t> [x, </a:t>
            </a:r>
            <a:r>
              <a:rPr lang="en-GB" dirty="0" err="1"/>
              <a:t>steX</a:t>
            </a:r>
            <a:r>
              <a:rPr lang="en-GB" dirty="0"/>
              <a:t>] = </a:t>
            </a:r>
            <a:r>
              <a:rPr lang="en-GB" dirty="0" err="1"/>
              <a:t>useState</a:t>
            </a:r>
            <a:r>
              <a:rPr lang="en-GB" dirty="0"/>
              <a:t>&lt;number&gt;(0); 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DCC274-A718-9C55-D1E8-1D53F8E48D4C}"/>
              </a:ext>
            </a:extLst>
          </p:cNvPr>
          <p:cNvSpPr/>
          <p:nvPr/>
        </p:nvSpPr>
        <p:spPr>
          <a:xfrm>
            <a:off x="1023457" y="1317072"/>
            <a:ext cx="1224793" cy="671119"/>
          </a:xfrm>
          <a:prstGeom prst="roundRect">
            <a:avLst/>
          </a:prstGeom>
          <a:scene3d>
            <a:camera prst="orthographicFront"/>
            <a:lightRig rig="threePt" dir="t"/>
          </a:scene3d>
          <a:sp3d>
            <a:bevelT prst="angle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 err="1"/>
              <a:t>btn</a:t>
            </a:r>
            <a:endParaRPr lang="en-US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10AF3DBD-AA8C-8C16-3773-060FA1072927}"/>
              </a:ext>
            </a:extLst>
          </p:cNvPr>
          <p:cNvCxnSpPr>
            <a:stCxn id="5" idx="3"/>
            <a:endCxn id="4" idx="2"/>
          </p:cNvCxnSpPr>
          <p:nvPr/>
        </p:nvCxnSpPr>
        <p:spPr>
          <a:xfrm flipV="1">
            <a:off x="2248250" y="1166286"/>
            <a:ext cx="5633207" cy="48634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1C44E38-896D-1297-465C-F69C17A1EDB0}"/>
              </a:ext>
            </a:extLst>
          </p:cNvPr>
          <p:cNvSpPr txBox="1"/>
          <p:nvPr/>
        </p:nvSpPr>
        <p:spPr>
          <a:xfrm>
            <a:off x="2919368" y="1493240"/>
            <a:ext cx="4177717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Mutate State </a:t>
            </a:r>
            <a:r>
              <a:rPr lang="en-GB" dirty="0" err="1"/>
              <a:t>onClick</a:t>
            </a:r>
            <a:r>
              <a:rPr lang="en-GB" dirty="0"/>
              <a:t> for x from 0 -100</a:t>
            </a:r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7183C7B6-EBAA-2607-C9B4-F21024947E76}"/>
              </a:ext>
            </a:extLst>
          </p:cNvPr>
          <p:cNvSpPr/>
          <p:nvPr/>
        </p:nvSpPr>
        <p:spPr>
          <a:xfrm>
            <a:off x="1149292" y="3363985"/>
            <a:ext cx="6635691" cy="2793534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85993F-010A-DB7B-1D2B-095C54035521}"/>
              </a:ext>
            </a:extLst>
          </p:cNvPr>
          <p:cNvSpPr txBox="1"/>
          <p:nvPr/>
        </p:nvSpPr>
        <p:spPr>
          <a:xfrm>
            <a:off x="1593908" y="3531765"/>
            <a:ext cx="323815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Child Component</a:t>
            </a:r>
            <a:endParaRPr lang="en-US" dirty="0"/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7484945E-B2DC-9F5A-2476-0897D113F658}"/>
              </a:ext>
            </a:extLst>
          </p:cNvPr>
          <p:cNvCxnSpPr>
            <a:stCxn id="3" idx="2"/>
            <a:endCxn id="9" idx="0"/>
          </p:cNvCxnSpPr>
          <p:nvPr/>
        </p:nvCxnSpPr>
        <p:spPr>
          <a:xfrm rot="16200000" flipH="1">
            <a:off x="2198024" y="1094871"/>
            <a:ext cx="2407424" cy="213080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52D107B-F1FA-5907-5D38-AD290CC02F40}"/>
              </a:ext>
            </a:extLst>
          </p:cNvPr>
          <p:cNvSpPr txBox="1"/>
          <p:nvPr/>
        </p:nvSpPr>
        <p:spPr>
          <a:xfrm>
            <a:off x="3187817" y="2617365"/>
            <a:ext cx="39092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X is passed to child using props</a:t>
            </a:r>
            <a:endParaRPr lang="en-US" b="1" dirty="0"/>
          </a:p>
        </p:txBody>
      </p:sp>
      <p:sp>
        <p:nvSpPr>
          <p:cNvPr id="14" name="Double Brace 13">
            <a:extLst>
              <a:ext uri="{FF2B5EF4-FFF2-40B4-BE49-F238E27FC236}">
                <a16:creationId xmlns:a16="http://schemas.microsoft.com/office/drawing/2014/main" id="{167709F5-364B-0CD8-8429-648D0C6595FB}"/>
              </a:ext>
            </a:extLst>
          </p:cNvPr>
          <p:cNvSpPr/>
          <p:nvPr/>
        </p:nvSpPr>
        <p:spPr>
          <a:xfrm>
            <a:off x="1971413" y="4613945"/>
            <a:ext cx="3238151" cy="788565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F54D940-23F5-7418-398E-797C54332689}"/>
              </a:ext>
            </a:extLst>
          </p:cNvPr>
          <p:cNvSpPr txBox="1"/>
          <p:nvPr/>
        </p:nvSpPr>
        <p:spPr>
          <a:xfrm>
            <a:off x="2114026" y="4756558"/>
            <a:ext cx="2667699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 err="1"/>
              <a:t>Props.x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EF3245-A002-3751-FAF3-A3B974F50DF2}"/>
              </a:ext>
            </a:extLst>
          </p:cNvPr>
          <p:cNvSpPr txBox="1"/>
          <p:nvPr/>
        </p:nvSpPr>
        <p:spPr>
          <a:xfrm>
            <a:off x="8237989" y="2986697"/>
            <a:ext cx="2804719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dirty="0"/>
              <a:t>Impact on child for each change in parent as re-render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5858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C88CDCB-C0E7-3BA4-E791-0E507054A8E0}"/>
              </a:ext>
            </a:extLst>
          </p:cNvPr>
          <p:cNvSpPr/>
          <p:nvPr/>
        </p:nvSpPr>
        <p:spPr>
          <a:xfrm>
            <a:off x="9652958" y="672860"/>
            <a:ext cx="2035834" cy="1915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API</a:t>
            </a:r>
          </a:p>
          <a:p>
            <a:pPr algn="ctr"/>
            <a:r>
              <a:rPr lang="en-GB" b="1" dirty="0"/>
              <a:t>That responds the data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3450D3-9C1B-868B-03B4-00DB8B507D9A}"/>
              </a:ext>
            </a:extLst>
          </p:cNvPr>
          <p:cNvSpPr/>
          <p:nvPr/>
        </p:nvSpPr>
        <p:spPr>
          <a:xfrm>
            <a:off x="422694" y="2216989"/>
            <a:ext cx="2363638" cy="20703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React Component</a:t>
            </a:r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BDAA4E-B0DA-3B3A-B091-DDEF5EABBC82}"/>
              </a:ext>
            </a:extLst>
          </p:cNvPr>
          <p:cNvSpPr txBox="1"/>
          <p:nvPr/>
        </p:nvSpPr>
        <p:spPr>
          <a:xfrm>
            <a:off x="146649" y="4597879"/>
            <a:ext cx="3088257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GB" b="1" dirty="0"/>
              <a:t>The component has multiple UI elements and some of the e.g. 2 Tables to be updated by making 2 separate calls to External REST APIs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6D9D772-F290-6307-CF34-0B8E22DD302B}"/>
              </a:ext>
            </a:extLst>
          </p:cNvPr>
          <p:cNvSpPr/>
          <p:nvPr/>
        </p:nvSpPr>
        <p:spPr>
          <a:xfrm>
            <a:off x="3933645" y="2216989"/>
            <a:ext cx="1371600" cy="1091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Service class that uses the </a:t>
            </a:r>
            <a:r>
              <a:rPr lang="en-GB" sz="1200" b="1" dirty="0" err="1"/>
              <a:t>axios</a:t>
            </a:r>
            <a:r>
              <a:rPr lang="en-GB" sz="1200" b="1" dirty="0"/>
              <a:t> for HTTP</a:t>
            </a:r>
            <a:endParaRPr lang="en-US" sz="1200" b="1" dirty="0"/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97D35E62-1ACA-B0B5-57E9-DB419611072F}"/>
              </a:ext>
            </a:extLst>
          </p:cNvPr>
          <p:cNvCxnSpPr>
            <a:cxnSpLocks/>
            <a:stCxn id="3" idx="0"/>
            <a:endCxn id="5" idx="0"/>
          </p:cNvCxnSpPr>
          <p:nvPr/>
        </p:nvCxnSpPr>
        <p:spPr>
          <a:xfrm rot="5400000" flipH="1" flipV="1">
            <a:off x="3111979" y="709523"/>
            <a:ext cx="12700" cy="3014932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7166956C-08C9-3E5E-9120-F69FF16EFF98}"/>
              </a:ext>
            </a:extLst>
          </p:cNvPr>
          <p:cNvSpPr txBox="1"/>
          <p:nvPr/>
        </p:nvSpPr>
        <p:spPr>
          <a:xfrm>
            <a:off x="2173857" y="1406106"/>
            <a:ext cx="219973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Component uses the Service class  for HTTP</a:t>
            </a:r>
            <a:endParaRPr lang="en-US" sz="1200" b="1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E3F11C91-D653-BA08-54D7-623DC98EF0D6}"/>
              </a:ext>
            </a:extLst>
          </p:cNvPr>
          <p:cNvCxnSpPr>
            <a:stCxn id="5" idx="3"/>
            <a:endCxn id="2" idx="0"/>
          </p:cNvCxnSpPr>
          <p:nvPr/>
        </p:nvCxnSpPr>
        <p:spPr>
          <a:xfrm flipV="1">
            <a:off x="5305245" y="672860"/>
            <a:ext cx="5365630" cy="2089750"/>
          </a:xfrm>
          <a:prstGeom prst="bentConnector4">
            <a:avLst>
              <a:gd name="adj1" fmla="val 40514"/>
              <a:gd name="adj2" fmla="val 11093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CFBAF7C3-80C5-B21E-61BA-636448AE43AA}"/>
              </a:ext>
            </a:extLst>
          </p:cNvPr>
          <p:cNvSpPr txBox="1"/>
          <p:nvPr/>
        </p:nvSpPr>
        <p:spPr>
          <a:xfrm>
            <a:off x="6461185" y="1130060"/>
            <a:ext cx="232050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Async call </a:t>
            </a:r>
            <a:r>
              <a:rPr lang="en-GB" b="1" dirty="0" err="1"/>
              <a:t>toAPI</a:t>
            </a:r>
            <a:endParaRPr lang="en-US" b="1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E2833C5A-A9FE-B718-2E09-B422D8B15055}"/>
              </a:ext>
            </a:extLst>
          </p:cNvPr>
          <p:cNvGraphicFramePr>
            <a:graphicFrameLocks noGrp="1"/>
          </p:cNvGraphicFramePr>
          <p:nvPr/>
        </p:nvGraphicFramePr>
        <p:xfrm>
          <a:off x="619184" y="2689164"/>
          <a:ext cx="19706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886">
                  <a:extLst>
                    <a:ext uri="{9D8B030D-6E8A-4147-A177-3AD203B41FA5}">
                      <a16:colId xmlns:a16="http://schemas.microsoft.com/office/drawing/2014/main" val="1965744157"/>
                    </a:ext>
                  </a:extLst>
                </a:gridCol>
                <a:gridCol w="656886">
                  <a:extLst>
                    <a:ext uri="{9D8B030D-6E8A-4147-A177-3AD203B41FA5}">
                      <a16:colId xmlns:a16="http://schemas.microsoft.com/office/drawing/2014/main" val="3691269770"/>
                    </a:ext>
                  </a:extLst>
                </a:gridCol>
                <a:gridCol w="656886">
                  <a:extLst>
                    <a:ext uri="{9D8B030D-6E8A-4147-A177-3AD203B41FA5}">
                      <a16:colId xmlns:a16="http://schemas.microsoft.com/office/drawing/2014/main" val="2771298188"/>
                    </a:ext>
                  </a:extLst>
                </a:gridCol>
              </a:tblGrid>
              <a:tr h="2853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505480"/>
                  </a:ext>
                </a:extLst>
              </a:tr>
              <a:tr h="2853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01470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505F9486-7C06-9D05-8DDD-7E0EB0346CB2}"/>
              </a:ext>
            </a:extLst>
          </p:cNvPr>
          <p:cNvGraphicFramePr>
            <a:graphicFrameLocks noGrp="1"/>
          </p:cNvGraphicFramePr>
          <p:nvPr/>
        </p:nvGraphicFramePr>
        <p:xfrm>
          <a:off x="619184" y="3488246"/>
          <a:ext cx="1970658" cy="731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56886">
                  <a:extLst>
                    <a:ext uri="{9D8B030D-6E8A-4147-A177-3AD203B41FA5}">
                      <a16:colId xmlns:a16="http://schemas.microsoft.com/office/drawing/2014/main" val="1965744157"/>
                    </a:ext>
                  </a:extLst>
                </a:gridCol>
                <a:gridCol w="656886">
                  <a:extLst>
                    <a:ext uri="{9D8B030D-6E8A-4147-A177-3AD203B41FA5}">
                      <a16:colId xmlns:a16="http://schemas.microsoft.com/office/drawing/2014/main" val="3691269770"/>
                    </a:ext>
                  </a:extLst>
                </a:gridCol>
                <a:gridCol w="656886">
                  <a:extLst>
                    <a:ext uri="{9D8B030D-6E8A-4147-A177-3AD203B41FA5}">
                      <a16:colId xmlns:a16="http://schemas.microsoft.com/office/drawing/2014/main" val="2771298188"/>
                    </a:ext>
                  </a:extLst>
                </a:gridCol>
              </a:tblGrid>
              <a:tr h="2853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505480"/>
                  </a:ext>
                </a:extLst>
              </a:tr>
              <a:tr h="2853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0147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A0507BE6-8412-0980-4B92-9EC4C71C88A1}"/>
              </a:ext>
            </a:extLst>
          </p:cNvPr>
          <p:cNvSpPr txBox="1"/>
          <p:nvPr/>
        </p:nvSpPr>
        <p:spPr>
          <a:xfrm>
            <a:off x="2365075" y="2793314"/>
            <a:ext cx="1045713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b="1" dirty="0"/>
              <a:t>categories</a:t>
            </a:r>
            <a:endParaRPr lang="en-US" sz="1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5E0394D-8E6C-F4CE-F16F-0D72C620E21C}"/>
              </a:ext>
            </a:extLst>
          </p:cNvPr>
          <p:cNvSpPr txBox="1"/>
          <p:nvPr/>
        </p:nvSpPr>
        <p:spPr>
          <a:xfrm>
            <a:off x="2351176" y="3723201"/>
            <a:ext cx="1045713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b="1" dirty="0"/>
              <a:t>products</a:t>
            </a:r>
            <a:endParaRPr lang="en-US" sz="1100" b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57299AEF-6AC6-110E-6D5C-04AFBF33D742}"/>
              </a:ext>
            </a:extLst>
          </p:cNvPr>
          <p:cNvCxnSpPr>
            <a:stCxn id="2" idx="2"/>
            <a:endCxn id="5" idx="3"/>
          </p:cNvCxnSpPr>
          <p:nvPr/>
        </p:nvCxnSpPr>
        <p:spPr>
          <a:xfrm rot="5400000">
            <a:off x="7900718" y="-7548"/>
            <a:ext cx="174685" cy="536563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D231119-AD89-2E43-66B9-4CABEDEDC088}"/>
              </a:ext>
            </a:extLst>
          </p:cNvPr>
          <p:cNvSpPr txBox="1"/>
          <p:nvPr/>
        </p:nvSpPr>
        <p:spPr>
          <a:xfrm>
            <a:off x="7621438" y="2666088"/>
            <a:ext cx="232050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Categories and Products Response</a:t>
            </a:r>
            <a:endParaRPr lang="en-US" b="1" dirty="0"/>
          </a:p>
        </p:txBody>
      </p:sp>
      <p:cxnSp>
        <p:nvCxnSpPr>
          <p:cNvPr id="21" name="Connector: Elbow 20">
            <a:extLst>
              <a:ext uri="{FF2B5EF4-FFF2-40B4-BE49-F238E27FC236}">
                <a16:creationId xmlns:a16="http://schemas.microsoft.com/office/drawing/2014/main" id="{AAF77B88-AEC6-2355-93FA-00AEE3E8D7FB}"/>
              </a:ext>
            </a:extLst>
          </p:cNvPr>
          <p:cNvCxnSpPr>
            <a:stCxn id="5" idx="1"/>
            <a:endCxn id="15" idx="3"/>
          </p:cNvCxnSpPr>
          <p:nvPr/>
        </p:nvCxnSpPr>
        <p:spPr>
          <a:xfrm rot="10800000" flipV="1">
            <a:off x="3410789" y="2762609"/>
            <a:ext cx="522857" cy="16150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70FABA2E-58D5-A373-B21C-D002CBC6EA42}"/>
              </a:ext>
            </a:extLst>
          </p:cNvPr>
          <p:cNvCxnSpPr>
            <a:cxnSpLocks/>
            <a:stCxn id="5" idx="2"/>
            <a:endCxn id="16" idx="3"/>
          </p:cNvCxnSpPr>
          <p:nvPr/>
        </p:nvCxnSpPr>
        <p:spPr>
          <a:xfrm rot="5400000">
            <a:off x="3735280" y="2969840"/>
            <a:ext cx="545775" cy="122255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295B0B8-BBEC-C7BD-8513-9F5F0B0958D7}"/>
              </a:ext>
            </a:extLst>
          </p:cNvPr>
          <p:cNvSpPr txBox="1"/>
          <p:nvPr/>
        </p:nvSpPr>
        <p:spPr>
          <a:xfrm>
            <a:off x="4442604" y="4494362"/>
            <a:ext cx="7453222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If the calls to APIs are successful then Tables will be updates, but if one of the call or both calls are failed then what to Update on UI? It’s a </a:t>
            </a:r>
            <a:r>
              <a:rPr lang="en-GB" b="1" dirty="0" err="1"/>
              <a:t>Chalange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7675707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CB132-0F1D-1D98-5756-A881939FF8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7F7E63C-B57D-67A8-13CF-71FC33EBF174}"/>
              </a:ext>
            </a:extLst>
          </p:cNvPr>
          <p:cNvSpPr/>
          <p:nvPr/>
        </p:nvSpPr>
        <p:spPr>
          <a:xfrm>
            <a:off x="9652958" y="672860"/>
            <a:ext cx="2035834" cy="19150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API</a:t>
            </a:r>
          </a:p>
          <a:p>
            <a:pPr algn="ctr"/>
            <a:r>
              <a:rPr lang="en-GB" b="1" dirty="0"/>
              <a:t>That responds the data</a:t>
            </a:r>
            <a:endParaRPr lang="en-US" b="1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AC65D30-A4B6-5EAE-0EE6-A09FAA7CAA77}"/>
              </a:ext>
            </a:extLst>
          </p:cNvPr>
          <p:cNvSpPr/>
          <p:nvPr/>
        </p:nvSpPr>
        <p:spPr>
          <a:xfrm>
            <a:off x="422694" y="2216989"/>
            <a:ext cx="2363638" cy="20703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React Component</a:t>
            </a:r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GB" b="1" dirty="0"/>
          </a:p>
          <a:p>
            <a:pPr algn="ctr"/>
            <a:endParaRPr lang="en-US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6874F-A7B5-3AE1-8983-345024B030DD}"/>
              </a:ext>
            </a:extLst>
          </p:cNvPr>
          <p:cNvSpPr txBox="1"/>
          <p:nvPr/>
        </p:nvSpPr>
        <p:spPr>
          <a:xfrm>
            <a:off x="146649" y="4597879"/>
            <a:ext cx="3088257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/>
            <a:r>
              <a:rPr lang="en-GB" b="1" dirty="0"/>
              <a:t>The component has multiple UI elements and some of the e.g. 2 Tables to be updated by making 2 separate calls to External REST APIs</a:t>
            </a:r>
            <a:endParaRPr lang="en-US" b="1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411D379-5BCC-4A6A-479D-5F6EE0EEE95F}"/>
              </a:ext>
            </a:extLst>
          </p:cNvPr>
          <p:cNvSpPr/>
          <p:nvPr/>
        </p:nvSpPr>
        <p:spPr>
          <a:xfrm>
            <a:off x="5685887" y="2247693"/>
            <a:ext cx="1371600" cy="10912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Service class that uses the </a:t>
            </a:r>
            <a:r>
              <a:rPr lang="en-GB" sz="1200" b="1" dirty="0" err="1"/>
              <a:t>axios</a:t>
            </a:r>
            <a:r>
              <a:rPr lang="en-GB" sz="1200" b="1" dirty="0"/>
              <a:t> for HTTP</a:t>
            </a:r>
            <a:endParaRPr lang="en-US" sz="12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342FA6D-4099-F81E-B83F-BECF7CA0DED6}"/>
              </a:ext>
            </a:extLst>
          </p:cNvPr>
          <p:cNvSpPr txBox="1"/>
          <p:nvPr/>
        </p:nvSpPr>
        <p:spPr>
          <a:xfrm>
            <a:off x="2173857" y="1406106"/>
            <a:ext cx="219973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Component will dispatch action</a:t>
            </a:r>
            <a:endParaRPr lang="en-US" sz="1200" b="1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8BCFCC7F-7876-1ED0-4A6A-11D85BC63615}"/>
              </a:ext>
            </a:extLst>
          </p:cNvPr>
          <p:cNvCxnSpPr>
            <a:stCxn id="5" idx="3"/>
            <a:endCxn id="2" idx="0"/>
          </p:cNvCxnSpPr>
          <p:nvPr/>
        </p:nvCxnSpPr>
        <p:spPr>
          <a:xfrm flipV="1">
            <a:off x="7057487" y="672860"/>
            <a:ext cx="3613388" cy="2120454"/>
          </a:xfrm>
          <a:prstGeom prst="bentConnector4">
            <a:avLst>
              <a:gd name="adj1" fmla="val 35915"/>
              <a:gd name="adj2" fmla="val 110781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E1369B01-5FDD-F954-8F4F-AF71791085F6}"/>
              </a:ext>
            </a:extLst>
          </p:cNvPr>
          <p:cNvSpPr txBox="1"/>
          <p:nvPr/>
        </p:nvSpPr>
        <p:spPr>
          <a:xfrm>
            <a:off x="6969063" y="1110899"/>
            <a:ext cx="232050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Async call </a:t>
            </a:r>
            <a:r>
              <a:rPr lang="en-GB" b="1" dirty="0" err="1"/>
              <a:t>toAPI</a:t>
            </a:r>
            <a:endParaRPr lang="en-US" b="1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CDDF4C90-535E-6572-2A2C-3CF600EC4247}"/>
              </a:ext>
            </a:extLst>
          </p:cNvPr>
          <p:cNvGraphicFramePr>
            <a:graphicFrameLocks noGrp="1"/>
          </p:cNvGraphicFramePr>
          <p:nvPr/>
        </p:nvGraphicFramePr>
        <p:xfrm>
          <a:off x="619184" y="2689164"/>
          <a:ext cx="1970658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6886">
                  <a:extLst>
                    <a:ext uri="{9D8B030D-6E8A-4147-A177-3AD203B41FA5}">
                      <a16:colId xmlns:a16="http://schemas.microsoft.com/office/drawing/2014/main" val="1965744157"/>
                    </a:ext>
                  </a:extLst>
                </a:gridCol>
                <a:gridCol w="656886">
                  <a:extLst>
                    <a:ext uri="{9D8B030D-6E8A-4147-A177-3AD203B41FA5}">
                      <a16:colId xmlns:a16="http://schemas.microsoft.com/office/drawing/2014/main" val="3691269770"/>
                    </a:ext>
                  </a:extLst>
                </a:gridCol>
                <a:gridCol w="656886">
                  <a:extLst>
                    <a:ext uri="{9D8B030D-6E8A-4147-A177-3AD203B41FA5}">
                      <a16:colId xmlns:a16="http://schemas.microsoft.com/office/drawing/2014/main" val="2771298188"/>
                    </a:ext>
                  </a:extLst>
                </a:gridCol>
              </a:tblGrid>
              <a:tr h="2853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505480"/>
                  </a:ext>
                </a:extLst>
              </a:tr>
              <a:tr h="2853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014702"/>
                  </a:ext>
                </a:extLst>
              </a:tr>
            </a:tbl>
          </a:graphicData>
        </a:graphic>
      </p:graphicFrame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97363AC2-ABBF-25FC-C82D-421066D1EB15}"/>
              </a:ext>
            </a:extLst>
          </p:cNvPr>
          <p:cNvGraphicFramePr>
            <a:graphicFrameLocks noGrp="1"/>
          </p:cNvGraphicFramePr>
          <p:nvPr/>
        </p:nvGraphicFramePr>
        <p:xfrm>
          <a:off x="619184" y="3488246"/>
          <a:ext cx="1970658" cy="731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656886">
                  <a:extLst>
                    <a:ext uri="{9D8B030D-6E8A-4147-A177-3AD203B41FA5}">
                      <a16:colId xmlns:a16="http://schemas.microsoft.com/office/drawing/2014/main" val="1965744157"/>
                    </a:ext>
                  </a:extLst>
                </a:gridCol>
                <a:gridCol w="656886">
                  <a:extLst>
                    <a:ext uri="{9D8B030D-6E8A-4147-A177-3AD203B41FA5}">
                      <a16:colId xmlns:a16="http://schemas.microsoft.com/office/drawing/2014/main" val="3691269770"/>
                    </a:ext>
                  </a:extLst>
                </a:gridCol>
                <a:gridCol w="656886">
                  <a:extLst>
                    <a:ext uri="{9D8B030D-6E8A-4147-A177-3AD203B41FA5}">
                      <a16:colId xmlns:a16="http://schemas.microsoft.com/office/drawing/2014/main" val="2771298188"/>
                    </a:ext>
                  </a:extLst>
                </a:gridCol>
              </a:tblGrid>
              <a:tr h="2853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4505480"/>
                  </a:ext>
                </a:extLst>
              </a:tr>
              <a:tr h="285351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04014702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57411A4F-BD51-5CF4-DD2F-ADD5B2063E38}"/>
              </a:ext>
            </a:extLst>
          </p:cNvPr>
          <p:cNvSpPr txBox="1"/>
          <p:nvPr/>
        </p:nvSpPr>
        <p:spPr>
          <a:xfrm>
            <a:off x="2365075" y="2793314"/>
            <a:ext cx="1045713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b="1" dirty="0"/>
              <a:t>categories</a:t>
            </a:r>
            <a:endParaRPr lang="en-US" sz="1100" b="1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209516-A90F-69C9-4C80-D7866DD2353A}"/>
              </a:ext>
            </a:extLst>
          </p:cNvPr>
          <p:cNvSpPr txBox="1"/>
          <p:nvPr/>
        </p:nvSpPr>
        <p:spPr>
          <a:xfrm>
            <a:off x="2351176" y="3723201"/>
            <a:ext cx="1045713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b="1" dirty="0"/>
              <a:t>products</a:t>
            </a:r>
            <a:endParaRPr lang="en-US" sz="1100" b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039661CC-FE1B-D181-A9F6-7D34AA8CA0DC}"/>
              </a:ext>
            </a:extLst>
          </p:cNvPr>
          <p:cNvCxnSpPr>
            <a:stCxn id="2" idx="2"/>
            <a:endCxn id="5" idx="3"/>
          </p:cNvCxnSpPr>
          <p:nvPr/>
        </p:nvCxnSpPr>
        <p:spPr>
          <a:xfrm rot="5400000">
            <a:off x="8761487" y="883925"/>
            <a:ext cx="205389" cy="361338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6B09658-7015-6458-ED7A-77B42F779E8B}"/>
              </a:ext>
            </a:extLst>
          </p:cNvPr>
          <p:cNvSpPr txBox="1"/>
          <p:nvPr/>
        </p:nvSpPr>
        <p:spPr>
          <a:xfrm>
            <a:off x="7621438" y="2666088"/>
            <a:ext cx="232050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Categories and Products Response</a:t>
            </a:r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5190CE-F699-7037-5FA1-53B3C4F96309}"/>
              </a:ext>
            </a:extLst>
          </p:cNvPr>
          <p:cNvSpPr txBox="1"/>
          <p:nvPr/>
        </p:nvSpPr>
        <p:spPr>
          <a:xfrm>
            <a:off x="207034" y="224287"/>
            <a:ext cx="5888966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Reducer Pattern with the </a:t>
            </a:r>
            <a:r>
              <a:rPr lang="en-GB" b="1" dirty="0" err="1"/>
              <a:t>useReducer</a:t>
            </a:r>
            <a:r>
              <a:rPr lang="en-GB" b="1"/>
              <a:t>() hook</a:t>
            </a:r>
            <a:endParaRPr lang="en-US" b="1" dirty="0"/>
          </a:p>
        </p:txBody>
      </p:sp>
      <p:sp>
        <p:nvSpPr>
          <p:cNvPr id="27" name="Cube 26">
            <a:extLst>
              <a:ext uri="{FF2B5EF4-FFF2-40B4-BE49-F238E27FC236}">
                <a16:creationId xmlns:a16="http://schemas.microsoft.com/office/drawing/2014/main" id="{77474B09-FF16-4BF3-8CFE-84D2C7D1DB57}"/>
              </a:ext>
            </a:extLst>
          </p:cNvPr>
          <p:cNvSpPr/>
          <p:nvPr/>
        </p:nvSpPr>
        <p:spPr>
          <a:xfrm>
            <a:off x="3605842" y="2415396"/>
            <a:ext cx="1864385" cy="1569415"/>
          </a:xfrm>
          <a:prstGeom prst="cube">
            <a:avLst>
              <a:gd name="adj" fmla="val 10709"/>
            </a:avLst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7ED4BA9-A9A5-088C-19D8-0D8F8402B179}"/>
              </a:ext>
            </a:extLst>
          </p:cNvPr>
          <p:cNvSpPr txBox="1"/>
          <p:nvPr/>
        </p:nvSpPr>
        <p:spPr>
          <a:xfrm>
            <a:off x="3786996" y="2070340"/>
            <a:ext cx="1683231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Reducer</a:t>
            </a:r>
            <a:endParaRPr lang="en-US" b="1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F11765-1229-A9C8-21D8-2F52230FA7CF}"/>
              </a:ext>
            </a:extLst>
          </p:cNvPr>
          <p:cNvSpPr txBox="1"/>
          <p:nvPr/>
        </p:nvSpPr>
        <p:spPr>
          <a:xfrm>
            <a:off x="5799826" y="4287328"/>
            <a:ext cx="5888966" cy="230832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Reducer will monitor ‘Actions’ dispatched from UI, based on the actions it will decide what data to updated in state</a:t>
            </a:r>
          </a:p>
          <a:p>
            <a:endParaRPr lang="en-GB" b="1" dirty="0"/>
          </a:p>
          <a:p>
            <a:r>
              <a:rPr lang="en-GB" b="1" dirty="0"/>
              <a:t>Technically: This is a JavaScript  ‘PURE’ Function. The Input and Output Parameters  are same.</a:t>
            </a:r>
          </a:p>
          <a:p>
            <a:r>
              <a:rPr lang="en-GB" b="1" dirty="0"/>
              <a:t>This will accept the Initial State and Action and based on the execution of action, it will mutate the state</a:t>
            </a:r>
            <a:endParaRPr lang="en-US" b="1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62D6C9-D940-B0B6-17E4-C01632AEE828}"/>
              </a:ext>
            </a:extLst>
          </p:cNvPr>
          <p:cNvSpPr/>
          <p:nvPr/>
        </p:nvSpPr>
        <p:spPr>
          <a:xfrm>
            <a:off x="3717985" y="2793314"/>
            <a:ext cx="1438694" cy="2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b="1" dirty="0"/>
              <a:t>Initial Dispatch</a:t>
            </a:r>
            <a:endParaRPr lang="en-US" sz="1050" b="1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37DE3F7-030F-DE55-62B0-345D07F9157B}"/>
              </a:ext>
            </a:extLst>
          </p:cNvPr>
          <p:cNvSpPr/>
          <p:nvPr/>
        </p:nvSpPr>
        <p:spPr>
          <a:xfrm>
            <a:off x="3717985" y="3230742"/>
            <a:ext cx="1438694" cy="2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b="1" dirty="0"/>
              <a:t>Success </a:t>
            </a:r>
            <a:endParaRPr lang="en-US" sz="1050" b="1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2E21FDF-2F0C-FDAB-AA9C-6E55A3C16DA6}"/>
              </a:ext>
            </a:extLst>
          </p:cNvPr>
          <p:cNvSpPr/>
          <p:nvPr/>
        </p:nvSpPr>
        <p:spPr>
          <a:xfrm>
            <a:off x="3717985" y="3607173"/>
            <a:ext cx="1438694" cy="2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b="1" dirty="0"/>
              <a:t>Error </a:t>
            </a:r>
            <a:endParaRPr lang="en-US" sz="1050" b="1" dirty="0"/>
          </a:p>
        </p:txBody>
      </p:sp>
      <p:cxnSp>
        <p:nvCxnSpPr>
          <p:cNvPr id="34" name="Connector: Curved 33">
            <a:extLst>
              <a:ext uri="{FF2B5EF4-FFF2-40B4-BE49-F238E27FC236}">
                <a16:creationId xmlns:a16="http://schemas.microsoft.com/office/drawing/2014/main" id="{1DC0BB85-A0AC-2BCF-F7F4-71471525EE2E}"/>
              </a:ext>
            </a:extLst>
          </p:cNvPr>
          <p:cNvCxnSpPr>
            <a:stCxn id="30" idx="1"/>
            <a:endCxn id="15" idx="3"/>
          </p:cNvCxnSpPr>
          <p:nvPr/>
        </p:nvCxnSpPr>
        <p:spPr>
          <a:xfrm rot="10800000">
            <a:off x="3410789" y="2924119"/>
            <a:ext cx="307197" cy="12700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AB4AC5D4-92E7-B5F0-32B6-CBB21143912E}"/>
              </a:ext>
            </a:extLst>
          </p:cNvPr>
          <p:cNvCxnSpPr>
            <a:stCxn id="31" idx="1"/>
            <a:endCxn id="15" idx="3"/>
          </p:cNvCxnSpPr>
          <p:nvPr/>
        </p:nvCxnSpPr>
        <p:spPr>
          <a:xfrm rot="10800000">
            <a:off x="3410789" y="2924119"/>
            <a:ext cx="307197" cy="43742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: Curved 37">
            <a:extLst>
              <a:ext uri="{FF2B5EF4-FFF2-40B4-BE49-F238E27FC236}">
                <a16:creationId xmlns:a16="http://schemas.microsoft.com/office/drawing/2014/main" id="{7058C8F9-E499-EBB5-8177-6586925D17FF}"/>
              </a:ext>
            </a:extLst>
          </p:cNvPr>
          <p:cNvCxnSpPr>
            <a:stCxn id="32" idx="1"/>
            <a:endCxn id="15" idx="3"/>
          </p:cNvCxnSpPr>
          <p:nvPr/>
        </p:nvCxnSpPr>
        <p:spPr>
          <a:xfrm rot="10800000">
            <a:off x="3410789" y="2924120"/>
            <a:ext cx="307197" cy="813859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39CC7EA2-1937-9A9A-B032-1ACA2D425F60}"/>
              </a:ext>
            </a:extLst>
          </p:cNvPr>
          <p:cNvCxnSpPr>
            <a:stCxn id="30" idx="1"/>
            <a:endCxn id="16" idx="0"/>
          </p:cNvCxnSpPr>
          <p:nvPr/>
        </p:nvCxnSpPr>
        <p:spPr>
          <a:xfrm rot="10800000" flipV="1">
            <a:off x="2874033" y="2924119"/>
            <a:ext cx="843952" cy="79908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: Curved 41">
            <a:extLst>
              <a:ext uri="{FF2B5EF4-FFF2-40B4-BE49-F238E27FC236}">
                <a16:creationId xmlns:a16="http://schemas.microsoft.com/office/drawing/2014/main" id="{B3B5FAA3-7E79-55BC-8452-699EB28877ED}"/>
              </a:ext>
            </a:extLst>
          </p:cNvPr>
          <p:cNvCxnSpPr>
            <a:stCxn id="31" idx="1"/>
            <a:endCxn id="16" idx="0"/>
          </p:cNvCxnSpPr>
          <p:nvPr/>
        </p:nvCxnSpPr>
        <p:spPr>
          <a:xfrm rot="10800000" flipV="1">
            <a:off x="2874033" y="3361547"/>
            <a:ext cx="843952" cy="361654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0623981C-ACDD-A1BB-3EA4-8A70EB181915}"/>
              </a:ext>
            </a:extLst>
          </p:cNvPr>
          <p:cNvCxnSpPr>
            <a:stCxn id="32" idx="1"/>
            <a:endCxn id="16" idx="0"/>
          </p:cNvCxnSpPr>
          <p:nvPr/>
        </p:nvCxnSpPr>
        <p:spPr>
          <a:xfrm rot="10800000">
            <a:off x="2874033" y="3723202"/>
            <a:ext cx="843952" cy="14777"/>
          </a:xfrm>
          <a:prstGeom prst="curvedConnector4">
            <a:avLst>
              <a:gd name="adj1" fmla="val 19023"/>
              <a:gd name="adj2" fmla="val 164699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6732994-0AB1-9219-E1DE-1C45481E5B22}"/>
              </a:ext>
            </a:extLst>
          </p:cNvPr>
          <p:cNvCxnSpPr>
            <a:stCxn id="3" idx="0"/>
            <a:endCxn id="28" idx="1"/>
          </p:cNvCxnSpPr>
          <p:nvPr/>
        </p:nvCxnSpPr>
        <p:spPr>
          <a:xfrm rot="16200000" flipH="1">
            <a:off x="2676745" y="1144756"/>
            <a:ext cx="38017" cy="2182483"/>
          </a:xfrm>
          <a:prstGeom prst="bentConnector4">
            <a:avLst>
              <a:gd name="adj1" fmla="val -601310"/>
              <a:gd name="adj2" fmla="val 77075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5F4E009B-CBC2-ABEE-E9DF-96F74E6EBB4A}"/>
              </a:ext>
            </a:extLst>
          </p:cNvPr>
          <p:cNvCxnSpPr>
            <a:stCxn id="28" idx="3"/>
            <a:endCxn id="5" idx="0"/>
          </p:cNvCxnSpPr>
          <p:nvPr/>
        </p:nvCxnSpPr>
        <p:spPr>
          <a:xfrm flipV="1">
            <a:off x="5470227" y="2247693"/>
            <a:ext cx="901460" cy="7313"/>
          </a:xfrm>
          <a:prstGeom prst="bentConnector4">
            <a:avLst>
              <a:gd name="adj1" fmla="val 11962"/>
              <a:gd name="adj2" fmla="val 5651114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15363AAE-FEF7-812F-D47C-FC9343A5D6F1}"/>
              </a:ext>
            </a:extLst>
          </p:cNvPr>
          <p:cNvCxnSpPr>
            <a:stCxn id="5" idx="2"/>
            <a:endCxn id="27" idx="5"/>
          </p:cNvCxnSpPr>
          <p:nvPr/>
        </p:nvCxnSpPr>
        <p:spPr>
          <a:xfrm rot="5400000" flipH="1">
            <a:off x="5809524" y="2776772"/>
            <a:ext cx="222866" cy="901460"/>
          </a:xfrm>
          <a:prstGeom prst="bentConnector4">
            <a:avLst>
              <a:gd name="adj1" fmla="val -102573"/>
              <a:gd name="adj2" fmla="val 8803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Double Brace 50">
            <a:extLst>
              <a:ext uri="{FF2B5EF4-FFF2-40B4-BE49-F238E27FC236}">
                <a16:creationId xmlns:a16="http://schemas.microsoft.com/office/drawing/2014/main" id="{ABF55521-FD9F-DF9D-4B3E-1E0BAB5A5AD0}"/>
              </a:ext>
            </a:extLst>
          </p:cNvPr>
          <p:cNvSpPr/>
          <p:nvPr/>
        </p:nvSpPr>
        <p:spPr>
          <a:xfrm>
            <a:off x="3410788" y="4701396"/>
            <a:ext cx="2179129" cy="1259457"/>
          </a:xfrm>
          <a:prstGeom prst="bracePair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F9DC051-8864-522F-3F12-CD36B30D7A02}"/>
              </a:ext>
            </a:extLst>
          </p:cNvPr>
          <p:cNvSpPr txBox="1"/>
          <p:nvPr/>
        </p:nvSpPr>
        <p:spPr>
          <a:xfrm>
            <a:off x="3605842" y="4908430"/>
            <a:ext cx="16821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Categories:[],</a:t>
            </a:r>
          </a:p>
          <a:p>
            <a:r>
              <a:rPr lang="en-GB" dirty="0"/>
              <a:t>Products:[]</a:t>
            </a:r>
            <a:endParaRPr lang="en-US" dirty="0"/>
          </a:p>
        </p:txBody>
      </p:sp>
      <p:cxnSp>
        <p:nvCxnSpPr>
          <p:cNvPr id="54" name="Connector: Elbow 53">
            <a:extLst>
              <a:ext uri="{FF2B5EF4-FFF2-40B4-BE49-F238E27FC236}">
                <a16:creationId xmlns:a16="http://schemas.microsoft.com/office/drawing/2014/main" id="{51772A96-7E96-D629-32DD-A5AB461760CD}"/>
              </a:ext>
            </a:extLst>
          </p:cNvPr>
          <p:cNvCxnSpPr>
            <a:stCxn id="27" idx="3"/>
            <a:endCxn id="52" idx="0"/>
          </p:cNvCxnSpPr>
          <p:nvPr/>
        </p:nvCxnSpPr>
        <p:spPr>
          <a:xfrm rot="5400000">
            <a:off x="3988650" y="4443079"/>
            <a:ext cx="923619" cy="7083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AFCF187D-A5E7-B7CB-7CA3-DADE6BA2C77D}"/>
              </a:ext>
            </a:extLst>
          </p:cNvPr>
          <p:cNvSpPr txBox="1"/>
          <p:nvPr/>
        </p:nvSpPr>
        <p:spPr>
          <a:xfrm>
            <a:off x="4603448" y="1298573"/>
            <a:ext cx="2199735" cy="46166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200" b="1" dirty="0"/>
              <a:t>Reducer will handle execution of these actions</a:t>
            </a:r>
            <a:endParaRPr 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37187994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be 1">
            <a:extLst>
              <a:ext uri="{FF2B5EF4-FFF2-40B4-BE49-F238E27FC236}">
                <a16:creationId xmlns:a16="http://schemas.microsoft.com/office/drawing/2014/main" id="{458B1998-5405-A9FF-F4DC-700A3B25E556}"/>
              </a:ext>
            </a:extLst>
          </p:cNvPr>
          <p:cNvSpPr/>
          <p:nvPr/>
        </p:nvSpPr>
        <p:spPr>
          <a:xfrm>
            <a:off x="7222922" y="302002"/>
            <a:ext cx="2650921" cy="6031685"/>
          </a:xfrm>
          <a:prstGeom prst="cube">
            <a:avLst>
              <a:gd name="adj" fmla="val 123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ASP.NET Core API / ASP.NET Framework API 4.8</a:t>
            </a:r>
          </a:p>
          <a:p>
            <a:pPr algn="ctr"/>
            <a:r>
              <a:rPr lang="en-GB" b="1" dirty="0"/>
              <a:t>Async</a:t>
            </a:r>
          </a:p>
          <a:p>
            <a:pPr algn="ctr"/>
            <a:endParaRPr lang="en-US" b="1" dirty="0"/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AE0A3FD0-6533-55A0-E23C-B41DD832426D}"/>
              </a:ext>
            </a:extLst>
          </p:cNvPr>
          <p:cNvSpPr/>
          <p:nvPr/>
        </p:nvSpPr>
        <p:spPr>
          <a:xfrm>
            <a:off x="10410738" y="1015068"/>
            <a:ext cx="1535185" cy="108218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RDBMS</a:t>
            </a:r>
            <a:endParaRPr lang="en-US" b="1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DCF11861-F5A0-225B-1F22-AFFDF3954341}"/>
              </a:ext>
            </a:extLst>
          </p:cNvPr>
          <p:cNvSpPr/>
          <p:nvPr/>
        </p:nvSpPr>
        <p:spPr>
          <a:xfrm>
            <a:off x="10470859" y="2694265"/>
            <a:ext cx="1535185" cy="108218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NoSQL</a:t>
            </a:r>
            <a:endParaRPr lang="en-US" dirty="0"/>
          </a:p>
        </p:txBody>
      </p:sp>
      <p:sp>
        <p:nvSpPr>
          <p:cNvPr id="5" name="Double Brace 4">
            <a:extLst>
              <a:ext uri="{FF2B5EF4-FFF2-40B4-BE49-F238E27FC236}">
                <a16:creationId xmlns:a16="http://schemas.microsoft.com/office/drawing/2014/main" id="{B547A442-E5A5-922C-FB8C-5A4BDCF2A4FE}"/>
              </a:ext>
            </a:extLst>
          </p:cNvPr>
          <p:cNvSpPr/>
          <p:nvPr/>
        </p:nvSpPr>
        <p:spPr>
          <a:xfrm>
            <a:off x="10679185" y="3087149"/>
            <a:ext cx="1065402" cy="570451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ultidocument 5">
            <a:extLst>
              <a:ext uri="{FF2B5EF4-FFF2-40B4-BE49-F238E27FC236}">
                <a16:creationId xmlns:a16="http://schemas.microsoft.com/office/drawing/2014/main" id="{2604A75B-42AF-B9EA-4369-CC10C4450C3E}"/>
              </a:ext>
            </a:extLst>
          </p:cNvPr>
          <p:cNvSpPr/>
          <p:nvPr/>
        </p:nvSpPr>
        <p:spPr>
          <a:xfrm>
            <a:off x="10470859" y="4353886"/>
            <a:ext cx="1535185" cy="1291905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BLOB</a:t>
            </a:r>
            <a:endParaRPr lang="en-US" b="1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79451CC7-F292-95AF-F418-BD42E047A177}"/>
              </a:ext>
            </a:extLst>
          </p:cNvPr>
          <p:cNvCxnSpPr>
            <a:stCxn id="2" idx="5"/>
            <a:endCxn id="3" idx="2"/>
          </p:cNvCxnSpPr>
          <p:nvPr/>
        </p:nvCxnSpPr>
        <p:spPr>
          <a:xfrm flipV="1">
            <a:off x="9873843" y="1556158"/>
            <a:ext cx="536895" cy="159809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3232C505-A079-EAFC-0FBE-10692CCA6A22}"/>
              </a:ext>
            </a:extLst>
          </p:cNvPr>
          <p:cNvCxnSpPr>
            <a:stCxn id="2" idx="5"/>
            <a:endCxn id="4" idx="2"/>
          </p:cNvCxnSpPr>
          <p:nvPr/>
        </p:nvCxnSpPr>
        <p:spPr>
          <a:xfrm>
            <a:off x="9873843" y="3154256"/>
            <a:ext cx="597016" cy="8109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55A0AEBB-9FBF-3221-2581-DA227E4CA21B}"/>
              </a:ext>
            </a:extLst>
          </p:cNvPr>
          <p:cNvCxnSpPr>
            <a:stCxn id="2" idx="5"/>
            <a:endCxn id="6" idx="1"/>
          </p:cNvCxnSpPr>
          <p:nvPr/>
        </p:nvCxnSpPr>
        <p:spPr>
          <a:xfrm>
            <a:off x="9873843" y="3154256"/>
            <a:ext cx="597016" cy="184558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lowchart: Data 12">
            <a:extLst>
              <a:ext uri="{FF2B5EF4-FFF2-40B4-BE49-F238E27FC236}">
                <a16:creationId xmlns:a16="http://schemas.microsoft.com/office/drawing/2014/main" id="{C7EC9D77-F88E-CB25-8386-A1FCFDED5467}"/>
              </a:ext>
            </a:extLst>
          </p:cNvPr>
          <p:cNvSpPr/>
          <p:nvPr/>
        </p:nvSpPr>
        <p:spPr>
          <a:xfrm>
            <a:off x="293615" y="2097248"/>
            <a:ext cx="1845578" cy="1417739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Browser</a:t>
            </a:r>
          </a:p>
          <a:p>
            <a:pPr algn="ctr"/>
            <a:r>
              <a:rPr lang="en-GB" b="1" dirty="0"/>
              <a:t>HTML + CSS + JS</a:t>
            </a:r>
            <a:endParaRPr lang="en-US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67F53905-1831-8731-63CF-AC9C7D157A36}"/>
              </a:ext>
            </a:extLst>
          </p:cNvPr>
          <p:cNvSpPr/>
          <p:nvPr/>
        </p:nvSpPr>
        <p:spPr>
          <a:xfrm>
            <a:off x="2080470" y="4588778"/>
            <a:ext cx="2516697" cy="1426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Front-End App</a:t>
            </a:r>
          </a:p>
          <a:p>
            <a:pPr algn="ctr"/>
            <a:r>
              <a:rPr lang="en-GB" b="1" dirty="0"/>
              <a:t>React.js + Tailwind + Other Third-Party Components </a:t>
            </a:r>
            <a:endParaRPr lang="en-US" b="1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525D942-7EAB-26AE-A66E-3F9807E1AAC9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rot="16200000" flipH="1">
            <a:off x="662731" y="3884102"/>
            <a:ext cx="1786855" cy="10486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63CAB33-2FCD-7B57-51F6-10B19C6169F5}"/>
              </a:ext>
            </a:extLst>
          </p:cNvPr>
          <p:cNvCxnSpPr>
            <a:stCxn id="14" idx="0"/>
            <a:endCxn id="13" idx="4"/>
          </p:cNvCxnSpPr>
          <p:nvPr/>
        </p:nvCxnSpPr>
        <p:spPr>
          <a:xfrm rot="16200000" flipV="1">
            <a:off x="1740717" y="2990675"/>
            <a:ext cx="1073791" cy="21224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06D4C193-B35A-B9CD-F02D-39346730C55C}"/>
              </a:ext>
            </a:extLst>
          </p:cNvPr>
          <p:cNvCxnSpPr>
            <a:stCxn id="13" idx="1"/>
            <a:endCxn id="2" idx="2"/>
          </p:cNvCxnSpPr>
          <p:nvPr/>
        </p:nvCxnSpPr>
        <p:spPr>
          <a:xfrm rot="16200000" flipH="1">
            <a:off x="3527570" y="-213919"/>
            <a:ext cx="1384185" cy="6006518"/>
          </a:xfrm>
          <a:prstGeom prst="curvedConnector4">
            <a:avLst>
              <a:gd name="adj1" fmla="val -16515"/>
              <a:gd name="adj2" fmla="val 5768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013BDA5D-C920-7D9F-188A-9EF4D2190FD2}"/>
              </a:ext>
            </a:extLst>
          </p:cNvPr>
          <p:cNvSpPr txBox="1"/>
          <p:nvPr/>
        </p:nvSpPr>
        <p:spPr>
          <a:xfrm>
            <a:off x="3338821" y="1644242"/>
            <a:ext cx="2348916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HTTP Communication for Get All </a:t>
            </a:r>
            <a:endParaRPr lang="en-US" b="1" dirty="0"/>
          </a:p>
        </p:txBody>
      </p: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8EDBF3A7-4EC3-E235-F821-5A3F8725CFFC}"/>
              </a:ext>
            </a:extLst>
          </p:cNvPr>
          <p:cNvCxnSpPr>
            <a:stCxn id="2" idx="2"/>
            <a:endCxn id="13" idx="5"/>
          </p:cNvCxnSpPr>
          <p:nvPr/>
        </p:nvCxnSpPr>
        <p:spPr>
          <a:xfrm rot="10800000">
            <a:off x="1954636" y="2806119"/>
            <a:ext cx="5268287" cy="675315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6E155836-A1DB-9144-33E6-F94BF3D24C88}"/>
              </a:ext>
            </a:extLst>
          </p:cNvPr>
          <p:cNvSpPr txBox="1"/>
          <p:nvPr/>
        </p:nvSpPr>
        <p:spPr>
          <a:xfrm>
            <a:off x="2199314" y="2572812"/>
            <a:ext cx="2348916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Response with Data e.g. JSON []</a:t>
            </a:r>
            <a:endParaRPr lang="en-US" b="1" dirty="0"/>
          </a:p>
        </p:txBody>
      </p: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88BF8A9A-DBBD-1A81-A389-5515B3D9D080}"/>
              </a:ext>
            </a:extLst>
          </p:cNvPr>
          <p:cNvSpPr/>
          <p:nvPr/>
        </p:nvSpPr>
        <p:spPr>
          <a:xfrm>
            <a:off x="2080470" y="142613"/>
            <a:ext cx="5058561" cy="64633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HTTP Traffic for Data Communication, over-utilized Network</a:t>
            </a:r>
            <a:endParaRPr lang="en-US" sz="12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2906F95-F779-B02D-8CDC-FE30486C33DA}"/>
              </a:ext>
            </a:extLst>
          </p:cNvPr>
          <p:cNvSpPr txBox="1"/>
          <p:nvPr/>
        </p:nvSpPr>
        <p:spPr>
          <a:xfrm>
            <a:off x="4991450" y="4588778"/>
            <a:ext cx="2023146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Client App is always Receiving data from Server even when there is a Single Records Call</a:t>
            </a:r>
            <a:endParaRPr lang="en-US" b="1" dirty="0"/>
          </a:p>
        </p:txBody>
      </p:sp>
      <p:cxnSp>
        <p:nvCxnSpPr>
          <p:cNvPr id="28" name="Connector: Curved 27">
            <a:extLst>
              <a:ext uri="{FF2B5EF4-FFF2-40B4-BE49-F238E27FC236}">
                <a16:creationId xmlns:a16="http://schemas.microsoft.com/office/drawing/2014/main" id="{2C7E8FE2-6042-257A-8C87-6F69D4A500C1}"/>
              </a:ext>
            </a:extLst>
          </p:cNvPr>
          <p:cNvCxnSpPr>
            <a:stCxn id="13" idx="0"/>
            <a:endCxn id="2" idx="2"/>
          </p:cNvCxnSpPr>
          <p:nvPr/>
        </p:nvCxnSpPr>
        <p:spPr>
          <a:xfrm rot="16200000" flipH="1">
            <a:off x="3619849" y="-121640"/>
            <a:ext cx="1384185" cy="5821960"/>
          </a:xfrm>
          <a:prstGeom prst="curvedConnector4">
            <a:avLst>
              <a:gd name="adj1" fmla="val -70454"/>
              <a:gd name="adj2" fmla="val 56340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63B250C-AAED-58F5-1EFD-B3BB3B8ADBEF}"/>
              </a:ext>
            </a:extLst>
          </p:cNvPr>
          <p:cNvSpPr txBox="1"/>
          <p:nvPr/>
        </p:nvSpPr>
        <p:spPr>
          <a:xfrm>
            <a:off x="2139193" y="1081910"/>
            <a:ext cx="2197915" cy="30777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sz="1400" b="1" dirty="0"/>
              <a:t>POST /PUT /DELETE</a:t>
            </a:r>
            <a:endParaRPr lang="en-US" sz="14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9CA649-1187-BA89-CFCC-322C0197C45C}"/>
              </a:ext>
            </a:extLst>
          </p:cNvPr>
          <p:cNvSpPr txBox="1"/>
          <p:nvPr/>
        </p:nvSpPr>
        <p:spPr>
          <a:xfrm>
            <a:off x="7373923" y="4353886"/>
            <a:ext cx="2023146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b="1" dirty="0"/>
              <a:t>For Each Write Operation, let there be an internal Read Operation. Each write operation when successful, will return collection as result (MUST be Avoided Solution)</a:t>
            </a:r>
            <a:endParaRPr 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2B8E6C1-8747-F56B-1CE7-2619A755836A}"/>
              </a:ext>
            </a:extLst>
          </p:cNvPr>
          <p:cNvSpPr txBox="1"/>
          <p:nvPr/>
        </p:nvSpPr>
        <p:spPr>
          <a:xfrm>
            <a:off x="7373923" y="1208015"/>
            <a:ext cx="2122415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Is Mediator Pattern is used then  will be no Read/Write happen at  a time (CQRS)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24810560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6AC75-F6D9-111D-4BD1-6B3E12C3C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be 1">
            <a:extLst>
              <a:ext uri="{FF2B5EF4-FFF2-40B4-BE49-F238E27FC236}">
                <a16:creationId xmlns:a16="http://schemas.microsoft.com/office/drawing/2014/main" id="{1E7ED75C-71F9-B8E6-E7B0-241BF4496C56}"/>
              </a:ext>
            </a:extLst>
          </p:cNvPr>
          <p:cNvSpPr/>
          <p:nvPr/>
        </p:nvSpPr>
        <p:spPr>
          <a:xfrm>
            <a:off x="7222922" y="302002"/>
            <a:ext cx="2650921" cy="6031685"/>
          </a:xfrm>
          <a:prstGeom prst="cube">
            <a:avLst>
              <a:gd name="adj" fmla="val 1234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ASP.NET Core API / ASP.NET Framework API 4.8</a:t>
            </a:r>
          </a:p>
          <a:p>
            <a:pPr algn="ctr"/>
            <a:r>
              <a:rPr lang="en-GB" b="1" dirty="0"/>
              <a:t>Async</a:t>
            </a:r>
          </a:p>
          <a:p>
            <a:pPr algn="ctr"/>
            <a:endParaRPr lang="en-US" b="1" dirty="0"/>
          </a:p>
        </p:txBody>
      </p:sp>
      <p:sp>
        <p:nvSpPr>
          <p:cNvPr id="3" name="Cylinder 2">
            <a:extLst>
              <a:ext uri="{FF2B5EF4-FFF2-40B4-BE49-F238E27FC236}">
                <a16:creationId xmlns:a16="http://schemas.microsoft.com/office/drawing/2014/main" id="{41B10C0A-7F65-FDF1-8889-5D49ED3429D1}"/>
              </a:ext>
            </a:extLst>
          </p:cNvPr>
          <p:cNvSpPr/>
          <p:nvPr/>
        </p:nvSpPr>
        <p:spPr>
          <a:xfrm>
            <a:off x="10410738" y="1015068"/>
            <a:ext cx="1535185" cy="108218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RDBMS</a:t>
            </a:r>
            <a:endParaRPr lang="en-US" b="1" dirty="0"/>
          </a:p>
        </p:txBody>
      </p:sp>
      <p:sp>
        <p:nvSpPr>
          <p:cNvPr id="4" name="Cylinder 3">
            <a:extLst>
              <a:ext uri="{FF2B5EF4-FFF2-40B4-BE49-F238E27FC236}">
                <a16:creationId xmlns:a16="http://schemas.microsoft.com/office/drawing/2014/main" id="{3F448446-ED00-9616-2481-3DD246028D29}"/>
              </a:ext>
            </a:extLst>
          </p:cNvPr>
          <p:cNvSpPr/>
          <p:nvPr/>
        </p:nvSpPr>
        <p:spPr>
          <a:xfrm>
            <a:off x="10470859" y="2694265"/>
            <a:ext cx="1535185" cy="1082180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NoSQL</a:t>
            </a:r>
            <a:endParaRPr lang="en-US" dirty="0"/>
          </a:p>
        </p:txBody>
      </p:sp>
      <p:sp>
        <p:nvSpPr>
          <p:cNvPr id="5" name="Double Brace 4">
            <a:extLst>
              <a:ext uri="{FF2B5EF4-FFF2-40B4-BE49-F238E27FC236}">
                <a16:creationId xmlns:a16="http://schemas.microsoft.com/office/drawing/2014/main" id="{1AA57647-D05D-11E4-29ED-5BA57A8B437C}"/>
              </a:ext>
            </a:extLst>
          </p:cNvPr>
          <p:cNvSpPr/>
          <p:nvPr/>
        </p:nvSpPr>
        <p:spPr>
          <a:xfrm>
            <a:off x="10679185" y="3087149"/>
            <a:ext cx="1065402" cy="570451"/>
          </a:xfrm>
          <a:prstGeom prst="bracePair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Multidocument 5">
            <a:extLst>
              <a:ext uri="{FF2B5EF4-FFF2-40B4-BE49-F238E27FC236}">
                <a16:creationId xmlns:a16="http://schemas.microsoft.com/office/drawing/2014/main" id="{459A5E93-FDA7-6B37-E50A-0347AE0E8E38}"/>
              </a:ext>
            </a:extLst>
          </p:cNvPr>
          <p:cNvSpPr/>
          <p:nvPr/>
        </p:nvSpPr>
        <p:spPr>
          <a:xfrm>
            <a:off x="10470859" y="4353886"/>
            <a:ext cx="1535185" cy="1291905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BLOB</a:t>
            </a:r>
            <a:endParaRPr lang="en-US" b="1" dirty="0"/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2E085E51-20A7-597E-9CE5-25834FB86634}"/>
              </a:ext>
            </a:extLst>
          </p:cNvPr>
          <p:cNvCxnSpPr>
            <a:stCxn id="2" idx="5"/>
            <a:endCxn id="3" idx="2"/>
          </p:cNvCxnSpPr>
          <p:nvPr/>
        </p:nvCxnSpPr>
        <p:spPr>
          <a:xfrm flipV="1">
            <a:off x="9873843" y="1556158"/>
            <a:ext cx="536895" cy="1598098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6ACAE6C0-334E-48B0-5A21-4A90E8863BC8}"/>
              </a:ext>
            </a:extLst>
          </p:cNvPr>
          <p:cNvCxnSpPr>
            <a:stCxn id="2" idx="5"/>
            <a:endCxn id="4" idx="2"/>
          </p:cNvCxnSpPr>
          <p:nvPr/>
        </p:nvCxnSpPr>
        <p:spPr>
          <a:xfrm>
            <a:off x="9873843" y="3154256"/>
            <a:ext cx="597016" cy="81099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76DCACE1-EB7B-ED4A-AB87-8B81F9A83BB2}"/>
              </a:ext>
            </a:extLst>
          </p:cNvPr>
          <p:cNvCxnSpPr>
            <a:stCxn id="2" idx="5"/>
            <a:endCxn id="6" idx="1"/>
          </p:cNvCxnSpPr>
          <p:nvPr/>
        </p:nvCxnSpPr>
        <p:spPr>
          <a:xfrm>
            <a:off x="9873843" y="3154256"/>
            <a:ext cx="597016" cy="184558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lowchart: Data 12">
            <a:extLst>
              <a:ext uri="{FF2B5EF4-FFF2-40B4-BE49-F238E27FC236}">
                <a16:creationId xmlns:a16="http://schemas.microsoft.com/office/drawing/2014/main" id="{81D0EEA6-2D0D-EBD2-F2CC-2C7199C414E8}"/>
              </a:ext>
            </a:extLst>
          </p:cNvPr>
          <p:cNvSpPr/>
          <p:nvPr/>
        </p:nvSpPr>
        <p:spPr>
          <a:xfrm>
            <a:off x="293615" y="2097248"/>
            <a:ext cx="1845578" cy="1417739"/>
          </a:xfrm>
          <a:prstGeom prst="flowChartInputOutp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Browser</a:t>
            </a:r>
          </a:p>
          <a:p>
            <a:pPr algn="ctr"/>
            <a:r>
              <a:rPr lang="en-GB" b="1" dirty="0"/>
              <a:t>HTML + CSS + JS</a:t>
            </a:r>
            <a:endParaRPr lang="en-US" b="1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2179538-9A53-1FF7-C94F-B363AC02CBF3}"/>
              </a:ext>
            </a:extLst>
          </p:cNvPr>
          <p:cNvSpPr/>
          <p:nvPr/>
        </p:nvSpPr>
        <p:spPr>
          <a:xfrm>
            <a:off x="2080470" y="4588778"/>
            <a:ext cx="2516697" cy="14261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Front-End App</a:t>
            </a:r>
          </a:p>
          <a:p>
            <a:pPr algn="ctr"/>
            <a:r>
              <a:rPr lang="en-GB" b="1" dirty="0"/>
              <a:t>React.js + Tailwind + Other Third-Party Components </a:t>
            </a:r>
            <a:endParaRPr lang="en-US" b="1" dirty="0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F3C32FF5-EA00-90CC-F75D-B6A2CF347BE1}"/>
              </a:ext>
            </a:extLst>
          </p:cNvPr>
          <p:cNvCxnSpPr>
            <a:stCxn id="13" idx="3"/>
            <a:endCxn id="14" idx="1"/>
          </p:cNvCxnSpPr>
          <p:nvPr/>
        </p:nvCxnSpPr>
        <p:spPr>
          <a:xfrm rot="16200000" flipH="1">
            <a:off x="662731" y="3884102"/>
            <a:ext cx="1786855" cy="104862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6CFD19EF-CB7F-F18B-DE30-1E40AB840003}"/>
              </a:ext>
            </a:extLst>
          </p:cNvPr>
          <p:cNvCxnSpPr>
            <a:stCxn id="14" idx="0"/>
            <a:endCxn id="13" idx="4"/>
          </p:cNvCxnSpPr>
          <p:nvPr/>
        </p:nvCxnSpPr>
        <p:spPr>
          <a:xfrm rot="16200000" flipV="1">
            <a:off x="1740717" y="2990675"/>
            <a:ext cx="1073791" cy="212241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Arrow: Left-Right 24">
            <a:extLst>
              <a:ext uri="{FF2B5EF4-FFF2-40B4-BE49-F238E27FC236}">
                <a16:creationId xmlns:a16="http://schemas.microsoft.com/office/drawing/2014/main" id="{3DD17902-A7F6-3200-A39E-1755205F128F}"/>
              </a:ext>
            </a:extLst>
          </p:cNvPr>
          <p:cNvSpPr/>
          <p:nvPr/>
        </p:nvSpPr>
        <p:spPr>
          <a:xfrm>
            <a:off x="2080470" y="142613"/>
            <a:ext cx="5058561" cy="646331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HTTP Traffic for Data Communication, over-utilized Network</a:t>
            </a:r>
            <a:endParaRPr lang="en-US" sz="1200" b="1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8B56D796-E90A-70CC-1E6E-C9C16C9D1DE8}"/>
              </a:ext>
            </a:extLst>
          </p:cNvPr>
          <p:cNvSpPr txBox="1"/>
          <p:nvPr/>
        </p:nvSpPr>
        <p:spPr>
          <a:xfrm>
            <a:off x="7373923" y="4353886"/>
            <a:ext cx="2023146" cy="13849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b="1" dirty="0"/>
              <a:t>For Each Write Operation, let there be an internal Read Operation. Each write operation when successful, will return collection as result (MUST be Avoided Solution)</a:t>
            </a:r>
            <a:endParaRPr lang="en-US" sz="1200" b="1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304584-B75A-E660-574F-EAA93238C462}"/>
              </a:ext>
            </a:extLst>
          </p:cNvPr>
          <p:cNvSpPr txBox="1"/>
          <p:nvPr/>
        </p:nvSpPr>
        <p:spPr>
          <a:xfrm>
            <a:off x="7373923" y="1208015"/>
            <a:ext cx="2122415" cy="95410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400" b="1" dirty="0"/>
              <a:t>Is Mediator Pattern is used then  will be no Read/Write happen at  a time (CQRS)</a:t>
            </a:r>
            <a:endParaRPr lang="en-US" sz="1400" b="1" dirty="0"/>
          </a:p>
        </p:txBody>
      </p:sp>
      <p:sp>
        <p:nvSpPr>
          <p:cNvPr id="7" name="Cylinder 6">
            <a:extLst>
              <a:ext uri="{FF2B5EF4-FFF2-40B4-BE49-F238E27FC236}">
                <a16:creationId xmlns:a16="http://schemas.microsoft.com/office/drawing/2014/main" id="{56DE86E5-2C2A-79B9-17C9-89B9A735BE2A}"/>
              </a:ext>
            </a:extLst>
          </p:cNvPr>
          <p:cNvSpPr/>
          <p:nvPr/>
        </p:nvSpPr>
        <p:spPr>
          <a:xfrm>
            <a:off x="1988191" y="3087149"/>
            <a:ext cx="1241570" cy="689296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050" b="1" dirty="0"/>
              <a:t>Pure Data Caching</a:t>
            </a:r>
            <a:endParaRPr lang="en-US" sz="1050" b="1" dirty="0"/>
          </a:p>
        </p:txBody>
      </p: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91A90B8C-2FA8-8EF9-1E7B-CE0A641E337F}"/>
              </a:ext>
            </a:extLst>
          </p:cNvPr>
          <p:cNvCxnSpPr>
            <a:cxnSpLocks/>
            <a:stCxn id="13" idx="1"/>
            <a:endCxn id="48" idx="3"/>
          </p:cNvCxnSpPr>
          <p:nvPr/>
        </p:nvCxnSpPr>
        <p:spPr>
          <a:xfrm rot="16200000" flipH="1">
            <a:off x="2152349" y="1161302"/>
            <a:ext cx="61771" cy="1933662"/>
          </a:xfrm>
          <a:prstGeom prst="curvedConnector3">
            <a:avLst>
              <a:gd name="adj1" fmla="val -37007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CBEEB28-BC83-F6B0-F96A-0E7EEFC2ED69}"/>
              </a:ext>
            </a:extLst>
          </p:cNvPr>
          <p:cNvSpPr txBox="1"/>
          <p:nvPr/>
        </p:nvSpPr>
        <p:spPr>
          <a:xfrm>
            <a:off x="2508307" y="1534314"/>
            <a:ext cx="1979803" cy="43088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b="1" dirty="0"/>
              <a:t>Data fetch Operation e.g. </a:t>
            </a:r>
            <a:r>
              <a:rPr lang="en-GB" sz="1100" b="1" dirty="0" err="1"/>
              <a:t>GetAll</a:t>
            </a:r>
            <a:r>
              <a:rPr lang="en-GB" sz="1100" b="1" dirty="0"/>
              <a:t>() / </a:t>
            </a:r>
            <a:r>
              <a:rPr lang="en-GB" sz="1100" b="1" dirty="0" err="1"/>
              <a:t>GetSingle</a:t>
            </a:r>
            <a:r>
              <a:rPr lang="en-GB" sz="1100" b="1" dirty="0"/>
              <a:t>()</a:t>
            </a:r>
            <a:endParaRPr lang="en-US" sz="1100" b="1" dirty="0"/>
          </a:p>
        </p:txBody>
      </p: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D0B8A1A1-DC1A-D0D0-D17E-FC3AD960911B}"/>
              </a:ext>
            </a:extLst>
          </p:cNvPr>
          <p:cNvCxnSpPr>
            <a:stCxn id="2" idx="2"/>
            <a:endCxn id="7" idx="4"/>
          </p:cNvCxnSpPr>
          <p:nvPr/>
        </p:nvCxnSpPr>
        <p:spPr>
          <a:xfrm rot="10800000">
            <a:off x="3229762" y="3431797"/>
            <a:ext cx="3993161" cy="49636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F9516685-D194-7302-52C2-8874801CAF33}"/>
              </a:ext>
            </a:extLst>
          </p:cNvPr>
          <p:cNvSpPr txBox="1"/>
          <p:nvPr/>
        </p:nvSpPr>
        <p:spPr>
          <a:xfrm>
            <a:off x="3498209" y="3235355"/>
            <a:ext cx="1610686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b="1" dirty="0"/>
              <a:t>Cache the Response Data for </a:t>
            </a:r>
            <a:r>
              <a:rPr lang="en-GB" sz="1200" b="1" dirty="0" err="1"/>
              <a:t>GetAll</a:t>
            </a:r>
            <a:r>
              <a:rPr lang="en-GB" sz="1200" b="1" dirty="0"/>
              <a:t>() / Get Single()</a:t>
            </a:r>
            <a:endParaRPr lang="en-US" sz="1200" b="1" dirty="0"/>
          </a:p>
        </p:txBody>
      </p:sp>
      <p:cxnSp>
        <p:nvCxnSpPr>
          <p:cNvPr id="29" name="Connector: Curved 28">
            <a:extLst>
              <a:ext uri="{FF2B5EF4-FFF2-40B4-BE49-F238E27FC236}">
                <a16:creationId xmlns:a16="http://schemas.microsoft.com/office/drawing/2014/main" id="{8EC71D19-4F26-C55B-7581-FCF479198B0F}"/>
              </a:ext>
            </a:extLst>
          </p:cNvPr>
          <p:cNvCxnSpPr>
            <a:cxnSpLocks/>
            <a:stCxn id="7" idx="3"/>
            <a:endCxn id="13" idx="5"/>
          </p:cNvCxnSpPr>
          <p:nvPr/>
        </p:nvCxnSpPr>
        <p:spPr>
          <a:xfrm rot="5400000" flipH="1">
            <a:off x="1796642" y="2964112"/>
            <a:ext cx="970327" cy="654341"/>
          </a:xfrm>
          <a:prstGeom prst="curvedConnector4">
            <a:avLst>
              <a:gd name="adj1" fmla="val -23559"/>
              <a:gd name="adj2" fmla="val -12980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4D38ACF-1092-C72F-AAEA-A38F03AAEB66}"/>
              </a:ext>
            </a:extLst>
          </p:cNvPr>
          <p:cNvSpPr txBox="1"/>
          <p:nvPr/>
        </p:nvSpPr>
        <p:spPr>
          <a:xfrm>
            <a:off x="2290194" y="2694265"/>
            <a:ext cx="1333850" cy="27699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b="1" dirty="0"/>
              <a:t>Deliver to UI</a:t>
            </a:r>
            <a:endParaRPr lang="en-US" sz="1200" b="1" dirty="0"/>
          </a:p>
        </p:txBody>
      </p:sp>
      <p:cxnSp>
        <p:nvCxnSpPr>
          <p:cNvPr id="39" name="Connector: Curved 38">
            <a:extLst>
              <a:ext uri="{FF2B5EF4-FFF2-40B4-BE49-F238E27FC236}">
                <a16:creationId xmlns:a16="http://schemas.microsoft.com/office/drawing/2014/main" id="{46D351D0-12CF-2569-63ED-6C719ED1944B}"/>
              </a:ext>
            </a:extLst>
          </p:cNvPr>
          <p:cNvCxnSpPr>
            <a:stCxn id="13" idx="0"/>
            <a:endCxn id="2" idx="2"/>
          </p:cNvCxnSpPr>
          <p:nvPr/>
        </p:nvCxnSpPr>
        <p:spPr>
          <a:xfrm rot="16200000" flipH="1">
            <a:off x="3619849" y="-121640"/>
            <a:ext cx="1384185" cy="5821960"/>
          </a:xfrm>
          <a:prstGeom prst="curvedConnector4">
            <a:avLst>
              <a:gd name="adj1" fmla="val -78939"/>
              <a:gd name="adj2" fmla="val 77522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D6D58C0B-8145-55AC-DF5E-E2BE9F277532}"/>
              </a:ext>
            </a:extLst>
          </p:cNvPr>
          <p:cNvSpPr txBox="1"/>
          <p:nvPr/>
        </p:nvSpPr>
        <p:spPr>
          <a:xfrm>
            <a:off x="2718033" y="1015068"/>
            <a:ext cx="2558642" cy="26161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100" b="1" dirty="0"/>
              <a:t>Write Request POST/PUT/DELETE</a:t>
            </a:r>
            <a:endParaRPr lang="en-US" sz="1100" b="1" dirty="0"/>
          </a:p>
        </p:txBody>
      </p:sp>
      <p:cxnSp>
        <p:nvCxnSpPr>
          <p:cNvPr id="44" name="Connector: Curved 43">
            <a:extLst>
              <a:ext uri="{FF2B5EF4-FFF2-40B4-BE49-F238E27FC236}">
                <a16:creationId xmlns:a16="http://schemas.microsoft.com/office/drawing/2014/main" id="{71546529-7EAD-08D7-210E-B3E44F566CF6}"/>
              </a:ext>
            </a:extLst>
          </p:cNvPr>
          <p:cNvCxnSpPr>
            <a:cxnSpLocks/>
            <a:stCxn id="2" idx="2"/>
            <a:endCxn id="22" idx="2"/>
          </p:cNvCxnSpPr>
          <p:nvPr/>
        </p:nvCxnSpPr>
        <p:spPr>
          <a:xfrm rot="10800000" flipV="1">
            <a:off x="4303552" y="3481432"/>
            <a:ext cx="2919370" cy="584919"/>
          </a:xfrm>
          <a:prstGeom prst="curvedConnector4">
            <a:avLst>
              <a:gd name="adj1" fmla="val 36207"/>
              <a:gd name="adj2" fmla="val 129438"/>
            </a:avLst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7" name="TextBox 46">
            <a:extLst>
              <a:ext uri="{FF2B5EF4-FFF2-40B4-BE49-F238E27FC236}">
                <a16:creationId xmlns:a16="http://schemas.microsoft.com/office/drawing/2014/main" id="{497EDDFC-61AA-969F-1E7D-6AA0A0C31367}"/>
              </a:ext>
            </a:extLst>
          </p:cNvPr>
          <p:cNvSpPr txBox="1"/>
          <p:nvPr/>
        </p:nvSpPr>
        <p:spPr>
          <a:xfrm>
            <a:off x="5276675" y="3710080"/>
            <a:ext cx="1806432" cy="83099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b="1" dirty="0"/>
              <a:t>If Write is Successful, then Invalidate the cache and refresh the new data</a:t>
            </a:r>
            <a:endParaRPr lang="en-US" sz="1200" b="1" dirty="0"/>
          </a:p>
        </p:txBody>
      </p:sp>
      <p:sp>
        <p:nvSpPr>
          <p:cNvPr id="48" name="Rectangle: Top Corners Snipped 47">
            <a:extLst>
              <a:ext uri="{FF2B5EF4-FFF2-40B4-BE49-F238E27FC236}">
                <a16:creationId xmlns:a16="http://schemas.microsoft.com/office/drawing/2014/main" id="{8F62EBB8-ED92-C9AA-BD31-6CF951DBE901}"/>
              </a:ext>
            </a:extLst>
          </p:cNvPr>
          <p:cNvSpPr/>
          <p:nvPr/>
        </p:nvSpPr>
        <p:spPr>
          <a:xfrm>
            <a:off x="2290194" y="2159019"/>
            <a:ext cx="1719744" cy="363272"/>
          </a:xfrm>
          <a:prstGeom prst="snip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 err="1"/>
              <a:t>useQuery</a:t>
            </a:r>
            <a:endParaRPr lang="en-US" b="1" dirty="0"/>
          </a:p>
        </p:txBody>
      </p:sp>
      <p:cxnSp>
        <p:nvCxnSpPr>
          <p:cNvPr id="51" name="Connector: Curved 50">
            <a:extLst>
              <a:ext uri="{FF2B5EF4-FFF2-40B4-BE49-F238E27FC236}">
                <a16:creationId xmlns:a16="http://schemas.microsoft.com/office/drawing/2014/main" id="{CB804938-F643-5434-9C6E-D18B273465DE}"/>
              </a:ext>
            </a:extLst>
          </p:cNvPr>
          <p:cNvCxnSpPr>
            <a:stCxn id="48" idx="0"/>
            <a:endCxn id="2" idx="2"/>
          </p:cNvCxnSpPr>
          <p:nvPr/>
        </p:nvCxnSpPr>
        <p:spPr>
          <a:xfrm>
            <a:off x="4009938" y="2340655"/>
            <a:ext cx="3212984" cy="1140778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549611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043E825-DD2B-CCAC-8B0F-EBDF1B1070FD}"/>
              </a:ext>
            </a:extLst>
          </p:cNvPr>
          <p:cNvSpPr/>
          <p:nvPr/>
        </p:nvSpPr>
        <p:spPr>
          <a:xfrm>
            <a:off x="7815532" y="690113"/>
            <a:ext cx="3140015" cy="521898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FB14A7F-47DE-B342-FFCE-EC7F81A27468}"/>
              </a:ext>
            </a:extLst>
          </p:cNvPr>
          <p:cNvSpPr/>
          <p:nvPr/>
        </p:nvSpPr>
        <p:spPr>
          <a:xfrm>
            <a:off x="8333117" y="1466491"/>
            <a:ext cx="1207698" cy="629728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BA94933-4A88-36CE-F318-D8A47B135396}"/>
              </a:ext>
            </a:extLst>
          </p:cNvPr>
          <p:cNvSpPr/>
          <p:nvPr/>
        </p:nvSpPr>
        <p:spPr>
          <a:xfrm>
            <a:off x="8485517" y="1618891"/>
            <a:ext cx="1207698" cy="629728"/>
          </a:xfrm>
          <a:prstGeom prst="round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6922E17-932B-8107-5413-B8694EB6D37F}"/>
              </a:ext>
            </a:extLst>
          </p:cNvPr>
          <p:cNvSpPr/>
          <p:nvPr/>
        </p:nvSpPr>
        <p:spPr>
          <a:xfrm>
            <a:off x="8637917" y="1771291"/>
            <a:ext cx="1207698" cy="629728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66ADBBD-766B-336C-F03C-BB2F292FBB8E}"/>
              </a:ext>
            </a:extLst>
          </p:cNvPr>
          <p:cNvSpPr/>
          <p:nvPr/>
        </p:nvSpPr>
        <p:spPr>
          <a:xfrm>
            <a:off x="8790317" y="1923691"/>
            <a:ext cx="1207698" cy="629728"/>
          </a:xfrm>
          <a:prstGeom prst="roundRect">
            <a:avLst/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D3BF929-95D8-7556-E15B-A6C416933380}"/>
              </a:ext>
            </a:extLst>
          </p:cNvPr>
          <p:cNvSpPr/>
          <p:nvPr/>
        </p:nvSpPr>
        <p:spPr>
          <a:xfrm>
            <a:off x="8942717" y="2076091"/>
            <a:ext cx="1207698" cy="629728"/>
          </a:xfrm>
          <a:prstGeom prst="roundRect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227AA0C-40EE-6C49-00F9-E85EB8F70EA2}"/>
              </a:ext>
            </a:extLst>
          </p:cNvPr>
          <p:cNvSpPr/>
          <p:nvPr/>
        </p:nvSpPr>
        <p:spPr>
          <a:xfrm>
            <a:off x="9095117" y="2228491"/>
            <a:ext cx="1207698" cy="629728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99E1DDA-2E9C-F8FB-B93E-AF16AE3CD476}"/>
              </a:ext>
            </a:extLst>
          </p:cNvPr>
          <p:cNvSpPr/>
          <p:nvPr/>
        </p:nvSpPr>
        <p:spPr>
          <a:xfrm>
            <a:off x="9247517" y="2380891"/>
            <a:ext cx="1207698" cy="62972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FAC776A1-F730-7344-0C34-9A453FDCACD6}"/>
              </a:ext>
            </a:extLst>
          </p:cNvPr>
          <p:cNvSpPr/>
          <p:nvPr/>
        </p:nvSpPr>
        <p:spPr>
          <a:xfrm>
            <a:off x="9399917" y="2533291"/>
            <a:ext cx="1207698" cy="62972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2AE0E27-0609-10F9-1D61-4E42A3E103B7}"/>
              </a:ext>
            </a:extLst>
          </p:cNvPr>
          <p:cNvSpPr/>
          <p:nvPr/>
        </p:nvSpPr>
        <p:spPr>
          <a:xfrm>
            <a:off x="586596" y="2076091"/>
            <a:ext cx="2225615" cy="16591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Browser</a:t>
            </a:r>
            <a:endParaRPr lang="en-US" dirty="0"/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A80BEE60-B763-4CD2-9A37-331CC2291C6B}"/>
              </a:ext>
            </a:extLst>
          </p:cNvPr>
          <p:cNvCxnSpPr>
            <a:endCxn id="2" idx="1"/>
          </p:cNvCxnSpPr>
          <p:nvPr/>
        </p:nvCxnSpPr>
        <p:spPr>
          <a:xfrm>
            <a:off x="2812211" y="2467155"/>
            <a:ext cx="5003321" cy="83244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F7B75455-6A1F-63EA-CDC1-35F75FCC19CF}"/>
              </a:ext>
            </a:extLst>
          </p:cNvPr>
          <p:cNvSpPr txBox="1"/>
          <p:nvPr/>
        </p:nvSpPr>
        <p:spPr>
          <a:xfrm>
            <a:off x="3657600" y="1923691"/>
            <a:ext cx="3505200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Page Post back to server and request to response other page</a:t>
            </a:r>
            <a:endParaRPr lang="en-US" b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6D02A81-D9E7-2263-CAED-5996A595D015}"/>
              </a:ext>
            </a:extLst>
          </p:cNvPr>
          <p:cNvSpPr txBox="1"/>
          <p:nvPr/>
        </p:nvSpPr>
        <p:spPr>
          <a:xfrm>
            <a:off x="8177842" y="3735238"/>
            <a:ext cx="25534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</a:rPr>
              <a:t>Server Manages the Page Transition and responds other page</a:t>
            </a:r>
            <a:endParaRPr lang="en-US" b="1" dirty="0">
              <a:solidFill>
                <a:srgbClr val="FF0000"/>
              </a:solidFill>
            </a:endParaRPr>
          </a:p>
        </p:txBody>
      </p: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A190EA38-EA90-5C4B-B0BF-3DE4EBD02F72}"/>
              </a:ext>
            </a:extLst>
          </p:cNvPr>
          <p:cNvCxnSpPr>
            <a:stCxn id="2" idx="1"/>
            <a:endCxn id="11" idx="2"/>
          </p:cNvCxnSpPr>
          <p:nvPr/>
        </p:nvCxnSpPr>
        <p:spPr>
          <a:xfrm rot="10800000" flipV="1">
            <a:off x="1699404" y="3299604"/>
            <a:ext cx="6116128" cy="435634"/>
          </a:xfrm>
          <a:prstGeom prst="bentConnector4">
            <a:avLst>
              <a:gd name="adj1" fmla="val 40903"/>
              <a:gd name="adj2" fmla="val 38415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20656851-5499-9D07-A84B-BE1AB9697360}"/>
              </a:ext>
            </a:extLst>
          </p:cNvPr>
          <p:cNvSpPr txBox="1"/>
          <p:nvPr/>
        </p:nvSpPr>
        <p:spPr>
          <a:xfrm>
            <a:off x="2277373" y="4162412"/>
            <a:ext cx="2760453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Next Page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0298285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C9E3D16-B89A-012B-1035-F19738406D4F}"/>
              </a:ext>
            </a:extLst>
          </p:cNvPr>
          <p:cNvSpPr/>
          <p:nvPr/>
        </p:nvSpPr>
        <p:spPr>
          <a:xfrm>
            <a:off x="293298" y="1388853"/>
            <a:ext cx="2898476" cy="1319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C1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D438F1F-185F-698A-FF56-C61D9FC4E4A1}"/>
              </a:ext>
            </a:extLst>
          </p:cNvPr>
          <p:cNvSpPr/>
          <p:nvPr/>
        </p:nvSpPr>
        <p:spPr>
          <a:xfrm>
            <a:off x="3483634" y="1388853"/>
            <a:ext cx="2898476" cy="1319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C2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3C6AE5-F27B-683F-8FAA-019E4119BC91}"/>
              </a:ext>
            </a:extLst>
          </p:cNvPr>
          <p:cNvSpPr/>
          <p:nvPr/>
        </p:nvSpPr>
        <p:spPr>
          <a:xfrm>
            <a:off x="6673970" y="1388853"/>
            <a:ext cx="2898476" cy="13198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C3</a:t>
            </a:r>
            <a:endParaRPr lang="en-US" dirty="0"/>
          </a:p>
        </p:txBody>
      </p:sp>
      <p:cxnSp>
        <p:nvCxnSpPr>
          <p:cNvPr id="7" name="Connector: Curved 6">
            <a:extLst>
              <a:ext uri="{FF2B5EF4-FFF2-40B4-BE49-F238E27FC236}">
                <a16:creationId xmlns:a16="http://schemas.microsoft.com/office/drawing/2014/main" id="{D0B4C07B-5FEB-40E8-8F46-9EE2CCCB344E}"/>
              </a:ext>
            </a:extLst>
          </p:cNvPr>
          <p:cNvCxnSpPr>
            <a:stCxn id="2" idx="0"/>
            <a:endCxn id="3" idx="0"/>
          </p:cNvCxnSpPr>
          <p:nvPr/>
        </p:nvCxnSpPr>
        <p:spPr>
          <a:xfrm rot="5400000" flipH="1" flipV="1">
            <a:off x="3337704" y="-206315"/>
            <a:ext cx="12700" cy="319033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Curved 8">
            <a:extLst>
              <a:ext uri="{FF2B5EF4-FFF2-40B4-BE49-F238E27FC236}">
                <a16:creationId xmlns:a16="http://schemas.microsoft.com/office/drawing/2014/main" id="{A7AF656E-57BD-D9E6-316D-3A9FD9587156}"/>
              </a:ext>
            </a:extLst>
          </p:cNvPr>
          <p:cNvCxnSpPr>
            <a:stCxn id="3" idx="0"/>
            <a:endCxn id="4" idx="0"/>
          </p:cNvCxnSpPr>
          <p:nvPr/>
        </p:nvCxnSpPr>
        <p:spPr>
          <a:xfrm rot="5400000" flipH="1" flipV="1">
            <a:off x="6528040" y="-206315"/>
            <a:ext cx="12700" cy="319033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: Curved 10">
            <a:extLst>
              <a:ext uri="{FF2B5EF4-FFF2-40B4-BE49-F238E27FC236}">
                <a16:creationId xmlns:a16="http://schemas.microsoft.com/office/drawing/2014/main" id="{4B9D03C4-3693-C798-46A5-46B7244BF67C}"/>
              </a:ext>
            </a:extLst>
          </p:cNvPr>
          <p:cNvCxnSpPr>
            <a:stCxn id="2" idx="0"/>
            <a:endCxn id="4" idx="0"/>
          </p:cNvCxnSpPr>
          <p:nvPr/>
        </p:nvCxnSpPr>
        <p:spPr>
          <a:xfrm rot="5400000" flipH="1" flipV="1">
            <a:off x="4932872" y="-1801483"/>
            <a:ext cx="12700" cy="6380672"/>
          </a:xfrm>
          <a:prstGeom prst="curvedConnector3">
            <a:avLst>
              <a:gd name="adj1" fmla="val 6690567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1EFC5B8E-1267-8A46-DE71-9DEA240FF5CD}"/>
              </a:ext>
            </a:extLst>
          </p:cNvPr>
          <p:cNvCxnSpPr>
            <a:stCxn id="3" idx="2"/>
            <a:endCxn id="2" idx="2"/>
          </p:cNvCxnSpPr>
          <p:nvPr/>
        </p:nvCxnSpPr>
        <p:spPr>
          <a:xfrm rot="5400000">
            <a:off x="3337704" y="1113527"/>
            <a:ext cx="12700" cy="319033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09493D08-D1AE-2D4D-8418-174E480F26B6}"/>
              </a:ext>
            </a:extLst>
          </p:cNvPr>
          <p:cNvCxnSpPr>
            <a:stCxn id="3" idx="2"/>
            <a:endCxn id="4" idx="2"/>
          </p:cNvCxnSpPr>
          <p:nvPr/>
        </p:nvCxnSpPr>
        <p:spPr>
          <a:xfrm rot="16200000" flipH="1">
            <a:off x="6528040" y="1113527"/>
            <a:ext cx="12700" cy="3190336"/>
          </a:xfrm>
          <a:prstGeom prst="curved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791C8BC4-F595-DE29-FD6B-079532FB6219}"/>
              </a:ext>
            </a:extLst>
          </p:cNvPr>
          <p:cNvCxnSpPr>
            <a:cxnSpLocks/>
            <a:stCxn id="4" idx="2"/>
            <a:endCxn id="2" idx="2"/>
          </p:cNvCxnSpPr>
          <p:nvPr/>
        </p:nvCxnSpPr>
        <p:spPr>
          <a:xfrm rot="5400000">
            <a:off x="4932872" y="-481641"/>
            <a:ext cx="12700" cy="6380672"/>
          </a:xfrm>
          <a:prstGeom prst="curvedConnector3">
            <a:avLst>
              <a:gd name="adj1" fmla="val 4720748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F5CAE575-36C8-4A6B-C5CC-522581DFE73E}"/>
              </a:ext>
            </a:extLst>
          </p:cNvPr>
          <p:cNvSpPr/>
          <p:nvPr/>
        </p:nvSpPr>
        <p:spPr>
          <a:xfrm>
            <a:off x="232913" y="3761117"/>
            <a:ext cx="11171208" cy="249806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1CD901E-52A8-1A45-CA7A-BF68CD1DFAF0}"/>
              </a:ext>
            </a:extLst>
          </p:cNvPr>
          <p:cNvSpPr txBox="1"/>
          <p:nvPr/>
        </p:nvSpPr>
        <p:spPr>
          <a:xfrm>
            <a:off x="293298" y="3890513"/>
            <a:ext cx="26655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Container</a:t>
            </a:r>
            <a:endParaRPr lang="en-US" b="1" dirty="0"/>
          </a:p>
        </p:txBody>
      </p:sp>
      <p:sp>
        <p:nvSpPr>
          <p:cNvPr id="23" name="Arrow: Down 22">
            <a:extLst>
              <a:ext uri="{FF2B5EF4-FFF2-40B4-BE49-F238E27FC236}">
                <a16:creationId xmlns:a16="http://schemas.microsoft.com/office/drawing/2014/main" id="{896D0490-3F11-1B93-465E-CF742E5C00A8}"/>
              </a:ext>
            </a:extLst>
          </p:cNvPr>
          <p:cNvSpPr/>
          <p:nvPr/>
        </p:nvSpPr>
        <p:spPr>
          <a:xfrm>
            <a:off x="3191774" y="3303917"/>
            <a:ext cx="508958" cy="9559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Arrow: Down 23">
            <a:extLst>
              <a:ext uri="{FF2B5EF4-FFF2-40B4-BE49-F238E27FC236}">
                <a16:creationId xmlns:a16="http://schemas.microsoft.com/office/drawing/2014/main" id="{517266BA-7206-997A-54DC-3C7EE694235D}"/>
              </a:ext>
            </a:extLst>
          </p:cNvPr>
          <p:cNvSpPr/>
          <p:nvPr/>
        </p:nvSpPr>
        <p:spPr>
          <a:xfrm>
            <a:off x="5309559" y="3412549"/>
            <a:ext cx="508958" cy="9559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3C23BC8A-200B-2E1E-D5DF-27F392CFAB9E}"/>
              </a:ext>
            </a:extLst>
          </p:cNvPr>
          <p:cNvSpPr/>
          <p:nvPr/>
        </p:nvSpPr>
        <p:spPr>
          <a:xfrm>
            <a:off x="7875079" y="3303917"/>
            <a:ext cx="508958" cy="95592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836A1A-E066-3EA4-78EA-4C04A73D8A97}"/>
              </a:ext>
            </a:extLst>
          </p:cNvPr>
          <p:cNvSpPr txBox="1"/>
          <p:nvPr/>
        </p:nvSpPr>
        <p:spPr>
          <a:xfrm>
            <a:off x="664234" y="4580626"/>
            <a:ext cx="8997351" cy="92333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b="1" dirty="0"/>
              <a:t>Navigation Handling across Components</a:t>
            </a:r>
          </a:p>
          <a:p>
            <a:pPr marL="342900" indent="-342900">
              <a:buAutoNum type="arabicPeriod"/>
            </a:pPr>
            <a:r>
              <a:rPr lang="en-GB" b="1" dirty="0"/>
              <a:t>Managing Lifecycle of Each Component e.g. State Changes, HTTP Calls, etc.</a:t>
            </a:r>
          </a:p>
          <a:p>
            <a:pPr marL="342900" indent="-342900">
              <a:buAutoNum type="arabicPeriod"/>
            </a:pPr>
            <a:r>
              <a:rPr lang="en-GB" b="1" dirty="0"/>
              <a:t>Share Data Across Components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0062976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B2AEB2-A19D-7D59-D91C-4E30A257ADF5}"/>
              </a:ext>
            </a:extLst>
          </p:cNvPr>
          <p:cNvSpPr/>
          <p:nvPr/>
        </p:nvSpPr>
        <p:spPr>
          <a:xfrm>
            <a:off x="664234" y="1216325"/>
            <a:ext cx="6530196" cy="301924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Browser</a:t>
            </a:r>
          </a:p>
          <a:p>
            <a:pPr algn="ctr"/>
            <a:r>
              <a:rPr lang="en-GB" b="1" dirty="0"/>
              <a:t>Has the Navigation Container to Load Components on-Demand or on Query</a:t>
            </a:r>
          </a:p>
          <a:p>
            <a:pPr algn="ctr"/>
            <a:r>
              <a:rPr lang="en-GB" b="1" dirty="0"/>
              <a:t>The Container now responsible to Manage Lifecycle of each component as well as the Data State</a:t>
            </a:r>
            <a:endParaRPr lang="en-US" b="1" dirty="0"/>
          </a:p>
        </p:txBody>
      </p:sp>
      <p:sp>
        <p:nvSpPr>
          <p:cNvPr id="3" name="Flowchart: Document 2">
            <a:extLst>
              <a:ext uri="{FF2B5EF4-FFF2-40B4-BE49-F238E27FC236}">
                <a16:creationId xmlns:a16="http://schemas.microsoft.com/office/drawing/2014/main" id="{383523E7-66E1-A3C3-5161-FB75EE2B0207}"/>
              </a:ext>
            </a:extLst>
          </p:cNvPr>
          <p:cNvSpPr/>
          <p:nvPr/>
        </p:nvSpPr>
        <p:spPr>
          <a:xfrm>
            <a:off x="8022566" y="1414732"/>
            <a:ext cx="3027872" cy="1328468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b="1" dirty="0"/>
              <a:t>JavaScript Object Model from React.js</a:t>
            </a:r>
            <a:endParaRPr lang="en-US" b="1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A4C410-FF59-97E8-D3EB-6160D1C2226C}"/>
              </a:ext>
            </a:extLst>
          </p:cNvPr>
          <p:cNvSpPr/>
          <p:nvPr/>
        </p:nvSpPr>
        <p:spPr>
          <a:xfrm>
            <a:off x="7643004" y="3079630"/>
            <a:ext cx="1345721" cy="7246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C1</a:t>
            </a:r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19A6E34-AE1F-FCAE-F755-9D0CD3C93A81}"/>
              </a:ext>
            </a:extLst>
          </p:cNvPr>
          <p:cNvSpPr/>
          <p:nvPr/>
        </p:nvSpPr>
        <p:spPr>
          <a:xfrm>
            <a:off x="8468264" y="3518140"/>
            <a:ext cx="1345721" cy="7246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C2</a:t>
            </a:r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1DAB086-FA9C-1D3A-BEA9-50A357CD0BDF}"/>
              </a:ext>
            </a:extLst>
          </p:cNvPr>
          <p:cNvSpPr/>
          <p:nvPr/>
        </p:nvSpPr>
        <p:spPr>
          <a:xfrm>
            <a:off x="9293523" y="3989716"/>
            <a:ext cx="1345721" cy="7246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C3</a:t>
            </a:r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052969A-8A49-0EC9-4101-6F9E090318D2}"/>
              </a:ext>
            </a:extLst>
          </p:cNvPr>
          <p:cNvSpPr/>
          <p:nvPr/>
        </p:nvSpPr>
        <p:spPr>
          <a:xfrm>
            <a:off x="10118784" y="4582064"/>
            <a:ext cx="1345721" cy="7246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C4</a:t>
            </a:r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A605145-170E-C490-B151-969A9707E1E1}"/>
              </a:ext>
            </a:extLst>
          </p:cNvPr>
          <p:cNvSpPr/>
          <p:nvPr/>
        </p:nvSpPr>
        <p:spPr>
          <a:xfrm>
            <a:off x="10702505" y="5174412"/>
            <a:ext cx="1345721" cy="7246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C5</a:t>
            </a:r>
            <a:endParaRPr lang="en-US" dirty="0"/>
          </a:p>
        </p:txBody>
      </p:sp>
      <p:cxnSp>
        <p:nvCxnSpPr>
          <p:cNvPr id="10" name="Connector: Curved 9">
            <a:extLst>
              <a:ext uri="{FF2B5EF4-FFF2-40B4-BE49-F238E27FC236}">
                <a16:creationId xmlns:a16="http://schemas.microsoft.com/office/drawing/2014/main" id="{D6839138-D6E0-3C01-2822-9138256EC8F2}"/>
              </a:ext>
            </a:extLst>
          </p:cNvPr>
          <p:cNvCxnSpPr>
            <a:stCxn id="4" idx="0"/>
            <a:endCxn id="3" idx="2"/>
          </p:cNvCxnSpPr>
          <p:nvPr/>
        </p:nvCxnSpPr>
        <p:spPr>
          <a:xfrm rot="5400000" flipH="1" flipV="1">
            <a:off x="8714055" y="2257184"/>
            <a:ext cx="424256" cy="122063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27DC4483-3CC7-7055-64E7-EE664B9A7598}"/>
              </a:ext>
            </a:extLst>
          </p:cNvPr>
          <p:cNvCxnSpPr>
            <a:stCxn id="5" idx="0"/>
            <a:endCxn id="3" idx="2"/>
          </p:cNvCxnSpPr>
          <p:nvPr/>
        </p:nvCxnSpPr>
        <p:spPr>
          <a:xfrm rot="5400000" flipH="1" flipV="1">
            <a:off x="8907430" y="2889069"/>
            <a:ext cx="862766" cy="39537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78B8C8CE-B869-DF8D-BD0E-DB063C379718}"/>
              </a:ext>
            </a:extLst>
          </p:cNvPr>
          <p:cNvCxnSpPr>
            <a:stCxn id="6" idx="0"/>
            <a:endCxn id="3" idx="2"/>
          </p:cNvCxnSpPr>
          <p:nvPr/>
        </p:nvCxnSpPr>
        <p:spPr>
          <a:xfrm rot="16200000" flipV="1">
            <a:off x="9084272" y="3107604"/>
            <a:ext cx="1334342" cy="42988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61F46B50-53BC-DAA8-1B81-344048547705}"/>
              </a:ext>
            </a:extLst>
          </p:cNvPr>
          <p:cNvCxnSpPr>
            <a:stCxn id="7" idx="0"/>
            <a:endCxn id="3" idx="2"/>
          </p:cNvCxnSpPr>
          <p:nvPr/>
        </p:nvCxnSpPr>
        <p:spPr>
          <a:xfrm rot="16200000" flipV="1">
            <a:off x="9200729" y="2991147"/>
            <a:ext cx="1926690" cy="1255143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1C38B2D0-9BDD-1B97-31C1-F9A9D4AD55E3}"/>
              </a:ext>
            </a:extLst>
          </p:cNvPr>
          <p:cNvCxnSpPr>
            <a:stCxn id="8" idx="0"/>
            <a:endCxn id="3" idx="2"/>
          </p:cNvCxnSpPr>
          <p:nvPr/>
        </p:nvCxnSpPr>
        <p:spPr>
          <a:xfrm rot="16200000" flipV="1">
            <a:off x="9196415" y="2995461"/>
            <a:ext cx="2519038" cy="1838864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6A6DEEE-78B1-9DFF-7CD3-9D4181F508D5}"/>
              </a:ext>
            </a:extLst>
          </p:cNvPr>
          <p:cNvSpPr txBox="1"/>
          <p:nvPr/>
        </p:nvSpPr>
        <p:spPr>
          <a:xfrm>
            <a:off x="339305" y="4944373"/>
            <a:ext cx="6814868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The React.js contains following two Object Models: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The Navigation Container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b="1" dirty="0"/>
              <a:t>Contains Table with URL and Component for Smooth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The Route Table Query, that takes care of the Lookup the Component and sending it to Container</a:t>
            </a:r>
            <a:endParaRPr lang="en-US" b="1" dirty="0"/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7190FFEE-21FE-58E5-46A1-016D2495ADC6}"/>
              </a:ext>
            </a:extLst>
          </p:cNvPr>
          <p:cNvGraphicFramePr>
            <a:graphicFrameLocks noGrp="1"/>
          </p:cNvGraphicFramePr>
          <p:nvPr/>
        </p:nvGraphicFramePr>
        <p:xfrm>
          <a:off x="7461369" y="5427769"/>
          <a:ext cx="250501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2508">
                  <a:extLst>
                    <a:ext uri="{9D8B030D-6E8A-4147-A177-3AD203B41FA5}">
                      <a16:colId xmlns:a16="http://schemas.microsoft.com/office/drawing/2014/main" val="3677415073"/>
                    </a:ext>
                  </a:extLst>
                </a:gridCol>
                <a:gridCol w="1252508">
                  <a:extLst>
                    <a:ext uri="{9D8B030D-6E8A-4147-A177-3AD203B41FA5}">
                      <a16:colId xmlns:a16="http://schemas.microsoft.com/office/drawing/2014/main" val="3130394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400" dirty="0"/>
                        <a:t>URL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Component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143203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/>
                        <a:t>/c1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C1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6966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400" dirty="0"/>
                        <a:t>/c2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/>
                        <a:t>C2</a:t>
                      </a:r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1301229"/>
                  </a:ext>
                </a:extLst>
              </a:tr>
            </a:tbl>
          </a:graphicData>
        </a:graphic>
      </p:graphicFrame>
      <p:cxnSp>
        <p:nvCxnSpPr>
          <p:cNvPr id="22" name="Connector: Curved 21">
            <a:extLst>
              <a:ext uri="{FF2B5EF4-FFF2-40B4-BE49-F238E27FC236}">
                <a16:creationId xmlns:a16="http://schemas.microsoft.com/office/drawing/2014/main" id="{64A4C7EC-6D3C-443F-08C1-8DA573D4B0EE}"/>
              </a:ext>
            </a:extLst>
          </p:cNvPr>
          <p:cNvCxnSpPr>
            <a:endCxn id="2" idx="2"/>
          </p:cNvCxnSpPr>
          <p:nvPr/>
        </p:nvCxnSpPr>
        <p:spPr>
          <a:xfrm rot="10800000">
            <a:off x="3929332" y="4235571"/>
            <a:ext cx="4809226" cy="126808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9424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7B21411-8FA2-228E-E9EF-AFFA0F1ED8A1}"/>
              </a:ext>
            </a:extLst>
          </p:cNvPr>
          <p:cNvSpPr/>
          <p:nvPr/>
        </p:nvSpPr>
        <p:spPr>
          <a:xfrm>
            <a:off x="491705" y="741872"/>
            <a:ext cx="11404120" cy="565892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76B719-63F6-BC5E-5B43-CEA0DC3EBAD0}"/>
              </a:ext>
            </a:extLst>
          </p:cNvPr>
          <p:cNvSpPr txBox="1"/>
          <p:nvPr/>
        </p:nvSpPr>
        <p:spPr>
          <a:xfrm>
            <a:off x="586596" y="854015"/>
            <a:ext cx="3519578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Browser Router</a:t>
            </a:r>
            <a:endParaRPr lang="en-US" b="1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BE1D14-DE06-A51F-F300-320C32BC02F6}"/>
              </a:ext>
            </a:extLst>
          </p:cNvPr>
          <p:cNvSpPr/>
          <p:nvPr/>
        </p:nvSpPr>
        <p:spPr>
          <a:xfrm>
            <a:off x="491705" y="1509623"/>
            <a:ext cx="11404119" cy="61247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950CCE2-E9DA-11C3-8CF2-1252E3814D2E}"/>
              </a:ext>
            </a:extLst>
          </p:cNvPr>
          <p:cNvSpPr/>
          <p:nvPr/>
        </p:nvSpPr>
        <p:spPr>
          <a:xfrm>
            <a:off x="785004" y="1483743"/>
            <a:ext cx="1690777" cy="6297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Category Dashboard</a:t>
            </a:r>
            <a:endParaRPr lang="en-US" sz="1200" b="1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BBA6B631-F8C6-F577-5F4F-3482AC78DFAF}"/>
              </a:ext>
            </a:extLst>
          </p:cNvPr>
          <p:cNvSpPr/>
          <p:nvPr/>
        </p:nvSpPr>
        <p:spPr>
          <a:xfrm>
            <a:off x="8442385" y="1492369"/>
            <a:ext cx="1690777" cy="6297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200" b="1" dirty="0"/>
              <a:t>Product Dashboard</a:t>
            </a:r>
            <a:endParaRPr lang="en-US" sz="1200" b="1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51FC56B-2497-BA85-948D-A42170930E29}"/>
              </a:ext>
            </a:extLst>
          </p:cNvPr>
          <p:cNvSpPr/>
          <p:nvPr/>
        </p:nvSpPr>
        <p:spPr>
          <a:xfrm>
            <a:off x="491705" y="2518913"/>
            <a:ext cx="5164350" cy="105242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AC77C59-762F-9944-4D89-70B636FCF8A3}"/>
              </a:ext>
            </a:extLst>
          </p:cNvPr>
          <p:cNvSpPr/>
          <p:nvPr/>
        </p:nvSpPr>
        <p:spPr>
          <a:xfrm>
            <a:off x="724619" y="2691442"/>
            <a:ext cx="1578634" cy="5865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List Categories</a:t>
            </a:r>
            <a:endParaRPr lang="en-US" sz="1100" b="1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80585D5-958A-8387-66A2-EB52A14E0AAE}"/>
              </a:ext>
            </a:extLst>
          </p:cNvPr>
          <p:cNvSpPr/>
          <p:nvPr/>
        </p:nvSpPr>
        <p:spPr>
          <a:xfrm>
            <a:off x="3654724" y="2691442"/>
            <a:ext cx="1578634" cy="5865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Create Category</a:t>
            </a:r>
            <a:endParaRPr lang="en-US" sz="1100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1C8E310-D441-312C-CA41-9DA6D94E3C3F}"/>
              </a:ext>
            </a:extLst>
          </p:cNvPr>
          <p:cNvSpPr/>
          <p:nvPr/>
        </p:nvSpPr>
        <p:spPr>
          <a:xfrm>
            <a:off x="6535946" y="2518913"/>
            <a:ext cx="5247737" cy="1052423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074ACA9-E488-AF0E-C6FF-00BFD8CFDBC8}"/>
              </a:ext>
            </a:extLst>
          </p:cNvPr>
          <p:cNvSpPr/>
          <p:nvPr/>
        </p:nvSpPr>
        <p:spPr>
          <a:xfrm>
            <a:off x="6768860" y="2691442"/>
            <a:ext cx="1578634" cy="5865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List Products</a:t>
            </a:r>
            <a:endParaRPr lang="en-US" sz="1100" b="1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FB5485-D804-D8D4-F287-2755F16B1089}"/>
              </a:ext>
            </a:extLst>
          </p:cNvPr>
          <p:cNvSpPr/>
          <p:nvPr/>
        </p:nvSpPr>
        <p:spPr>
          <a:xfrm>
            <a:off x="9888747" y="2751826"/>
            <a:ext cx="1578634" cy="586596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100" b="1" dirty="0"/>
              <a:t>Create Product</a:t>
            </a:r>
            <a:endParaRPr lang="en-US" sz="1100" b="1" dirty="0"/>
          </a:p>
        </p:txBody>
      </p:sp>
      <p:cxnSp>
        <p:nvCxnSpPr>
          <p:cNvPr id="14" name="Connector: Curved 13">
            <a:extLst>
              <a:ext uri="{FF2B5EF4-FFF2-40B4-BE49-F238E27FC236}">
                <a16:creationId xmlns:a16="http://schemas.microsoft.com/office/drawing/2014/main" id="{69DA8D57-AE78-B647-D227-F8F814F571F0}"/>
              </a:ext>
            </a:extLst>
          </p:cNvPr>
          <p:cNvCxnSpPr>
            <a:stCxn id="5" idx="2"/>
            <a:endCxn id="7" idx="0"/>
          </p:cNvCxnSpPr>
          <p:nvPr/>
        </p:nvCxnSpPr>
        <p:spPr>
          <a:xfrm rot="16200000" flipH="1">
            <a:off x="2149416" y="1594448"/>
            <a:ext cx="405441" cy="1443487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Curved 15">
            <a:extLst>
              <a:ext uri="{FF2B5EF4-FFF2-40B4-BE49-F238E27FC236}">
                <a16:creationId xmlns:a16="http://schemas.microsoft.com/office/drawing/2014/main" id="{FC232732-64B0-C761-9793-CFAF0AD81AD2}"/>
              </a:ext>
            </a:extLst>
          </p:cNvPr>
          <p:cNvCxnSpPr>
            <a:stCxn id="6" idx="2"/>
          </p:cNvCxnSpPr>
          <p:nvPr/>
        </p:nvCxnSpPr>
        <p:spPr>
          <a:xfrm rot="5400000">
            <a:off x="8991601" y="2222739"/>
            <a:ext cx="396815" cy="195532"/>
          </a:xfrm>
          <a:prstGeom prst="curved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6647A8-54A9-4228-04BD-DB4168CE06BD}"/>
              </a:ext>
            </a:extLst>
          </p:cNvPr>
          <p:cNvSpPr/>
          <p:nvPr/>
        </p:nvSpPr>
        <p:spPr>
          <a:xfrm>
            <a:off x="785004" y="3899140"/>
            <a:ext cx="10682377" cy="210484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4400" b="1" dirty="0"/>
              <a:t>Navigations Across Components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83091776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be 1">
            <a:extLst>
              <a:ext uri="{FF2B5EF4-FFF2-40B4-BE49-F238E27FC236}">
                <a16:creationId xmlns:a16="http://schemas.microsoft.com/office/drawing/2014/main" id="{11F115D2-62A7-CCF1-7BA5-1BC8FB24325F}"/>
              </a:ext>
            </a:extLst>
          </p:cNvPr>
          <p:cNvSpPr/>
          <p:nvPr/>
        </p:nvSpPr>
        <p:spPr>
          <a:xfrm>
            <a:off x="3528204" y="172528"/>
            <a:ext cx="8203721" cy="6185140"/>
          </a:xfrm>
          <a:prstGeom prst="cube">
            <a:avLst>
              <a:gd name="adj" fmla="val 6669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48F2A0-D52B-257E-BD62-F8EC4C2D5731}"/>
              </a:ext>
            </a:extLst>
          </p:cNvPr>
          <p:cNvSpPr/>
          <p:nvPr/>
        </p:nvSpPr>
        <p:spPr>
          <a:xfrm>
            <a:off x="3821502" y="905774"/>
            <a:ext cx="2337758" cy="1664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Server 1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B22377-3E99-1FD6-138B-6C4DBB08AA81}"/>
              </a:ext>
            </a:extLst>
          </p:cNvPr>
          <p:cNvSpPr/>
          <p:nvPr/>
        </p:nvSpPr>
        <p:spPr>
          <a:xfrm>
            <a:off x="8934090" y="905774"/>
            <a:ext cx="2337758" cy="1664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Server 2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5E6E407-DF61-0FBE-5E59-FC84C2D57D59}"/>
              </a:ext>
            </a:extLst>
          </p:cNvPr>
          <p:cNvSpPr/>
          <p:nvPr/>
        </p:nvSpPr>
        <p:spPr>
          <a:xfrm>
            <a:off x="8934090" y="3631721"/>
            <a:ext cx="2337758" cy="1664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Server 4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00DE36-DE61-1A6A-B881-2859B234A0A3}"/>
              </a:ext>
            </a:extLst>
          </p:cNvPr>
          <p:cNvSpPr/>
          <p:nvPr/>
        </p:nvSpPr>
        <p:spPr>
          <a:xfrm>
            <a:off x="3830130" y="3795623"/>
            <a:ext cx="2337758" cy="1664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Server 3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0F0028-17DE-00D9-3A67-8611045B974E}"/>
              </a:ext>
            </a:extLst>
          </p:cNvPr>
          <p:cNvSpPr txBox="1"/>
          <p:nvPr/>
        </p:nvSpPr>
        <p:spPr>
          <a:xfrm>
            <a:off x="457200" y="3815752"/>
            <a:ext cx="2794958" cy="17543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sz="1200" b="1" dirty="0"/>
              <a:t>Each Server Has:</a:t>
            </a:r>
          </a:p>
          <a:p>
            <a:pPr marL="342900" indent="-342900">
              <a:buAutoNum type="arabicPeriod"/>
            </a:pPr>
            <a:r>
              <a:rPr lang="en-GB" sz="1200" b="1" dirty="0"/>
              <a:t>Hardware</a:t>
            </a:r>
          </a:p>
          <a:p>
            <a:pPr marL="800100" lvl="1" indent="-342900">
              <a:buAutoNum type="arabicPeriod"/>
            </a:pPr>
            <a:r>
              <a:rPr lang="en-GB" sz="1200" b="1" dirty="0"/>
              <a:t>HDD</a:t>
            </a:r>
          </a:p>
          <a:p>
            <a:pPr marL="800100" lvl="1" indent="-342900">
              <a:buAutoNum type="arabicPeriod"/>
            </a:pPr>
            <a:r>
              <a:rPr lang="en-GB" sz="1200" b="1" dirty="0"/>
              <a:t>RAM</a:t>
            </a:r>
          </a:p>
          <a:p>
            <a:pPr marL="800100" lvl="1" indent="-342900">
              <a:buAutoNum type="arabicPeriod"/>
            </a:pPr>
            <a:r>
              <a:rPr lang="en-GB" sz="1200" b="1" dirty="0" err="1"/>
              <a:t>Netowrking</a:t>
            </a:r>
            <a:endParaRPr lang="en-GB" sz="1200" b="1" dirty="0"/>
          </a:p>
          <a:p>
            <a:pPr marL="342900" indent="-342900">
              <a:buAutoNum type="arabicPeriod"/>
            </a:pPr>
            <a:r>
              <a:rPr lang="en-GB" sz="1200" b="1" dirty="0"/>
              <a:t>Software</a:t>
            </a:r>
          </a:p>
          <a:p>
            <a:pPr marL="800100" lvl="1" indent="-342900">
              <a:buAutoNum type="arabicPeriod"/>
            </a:pPr>
            <a:r>
              <a:rPr lang="en-GB" sz="1200" b="1" dirty="0"/>
              <a:t>OS</a:t>
            </a:r>
          </a:p>
          <a:p>
            <a:pPr marL="800100" lvl="1" indent="-342900">
              <a:buAutoNum type="arabicPeriod"/>
            </a:pPr>
            <a:r>
              <a:rPr lang="en-GB" sz="1200" b="1" dirty="0"/>
              <a:t>Runtime e.g. .NET</a:t>
            </a:r>
          </a:p>
          <a:p>
            <a:pPr marL="800100" lvl="1" indent="-342900">
              <a:buAutoNum type="arabicPeriod"/>
            </a:pPr>
            <a:r>
              <a:rPr lang="en-US" sz="1200" b="1" dirty="0"/>
              <a:t>Database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037F2B-4220-2695-8836-B70DFC33223E}"/>
              </a:ext>
            </a:extLst>
          </p:cNvPr>
          <p:cNvSpPr/>
          <p:nvPr/>
        </p:nvSpPr>
        <p:spPr>
          <a:xfrm>
            <a:off x="3821502" y="2984740"/>
            <a:ext cx="7306573" cy="2415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Networking Topology</a:t>
            </a:r>
            <a:endParaRPr lang="en-US" dirty="0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48A31D22-0687-204F-A3F0-B173468F6CA0}"/>
              </a:ext>
            </a:extLst>
          </p:cNvPr>
          <p:cNvCxnSpPr>
            <a:endCxn id="8" idx="0"/>
          </p:cNvCxnSpPr>
          <p:nvPr/>
        </p:nvCxnSpPr>
        <p:spPr>
          <a:xfrm>
            <a:off x="6159260" y="1716657"/>
            <a:ext cx="1315529" cy="126808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E5937177-0AF8-5C6A-BBD6-0BEA8F14CDC6}"/>
              </a:ext>
            </a:extLst>
          </p:cNvPr>
          <p:cNvCxnSpPr>
            <a:stCxn id="4" idx="1"/>
            <a:endCxn id="8" idx="0"/>
          </p:cNvCxnSpPr>
          <p:nvPr/>
        </p:nvCxnSpPr>
        <p:spPr>
          <a:xfrm rot="10800000" flipV="1">
            <a:off x="7474790" y="1738222"/>
            <a:ext cx="1459301" cy="124651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301FF22F-A46C-49A5-789D-BDA2020CF64F}"/>
              </a:ext>
            </a:extLst>
          </p:cNvPr>
          <p:cNvCxnSpPr>
            <a:cxnSpLocks/>
            <a:stCxn id="6" idx="3"/>
            <a:endCxn id="8" idx="2"/>
          </p:cNvCxnSpPr>
          <p:nvPr/>
        </p:nvCxnSpPr>
        <p:spPr>
          <a:xfrm flipV="1">
            <a:off x="6167888" y="3226279"/>
            <a:ext cx="1306901" cy="1401793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3146F750-85E1-9E7C-B5CD-F190FCE8B3D1}"/>
              </a:ext>
            </a:extLst>
          </p:cNvPr>
          <p:cNvCxnSpPr>
            <a:stCxn id="5" idx="1"/>
            <a:endCxn id="8" idx="2"/>
          </p:cNvCxnSpPr>
          <p:nvPr/>
        </p:nvCxnSpPr>
        <p:spPr>
          <a:xfrm rot="10800000">
            <a:off x="7474790" y="3226280"/>
            <a:ext cx="1459301" cy="123789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4B44CB08-2DB5-7ABA-2C7C-A56A610660D7}"/>
              </a:ext>
            </a:extLst>
          </p:cNvPr>
          <p:cNvSpPr txBox="1"/>
          <p:nvPr/>
        </p:nvSpPr>
        <p:spPr>
          <a:xfrm>
            <a:off x="388189" y="2389517"/>
            <a:ext cx="267993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On Premises App</a:t>
            </a:r>
          </a:p>
          <a:p>
            <a:pPr marL="342900" indent="-342900">
              <a:buAutoNum type="arabicPeriod"/>
            </a:pPr>
            <a:r>
              <a:rPr lang="en-GB" b="1" dirty="0"/>
              <a:t>Capital Expenditure</a:t>
            </a:r>
          </a:p>
          <a:p>
            <a:pPr marL="342900" indent="-342900">
              <a:buAutoNum type="arabicPeriod"/>
            </a:pPr>
            <a:r>
              <a:rPr lang="en-GB" b="1" dirty="0"/>
              <a:t>Operation Expenditure</a:t>
            </a:r>
            <a:endParaRPr lang="en-US" b="1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FEBD37-D721-80CF-BE42-BD07387E7DE3}"/>
              </a:ext>
            </a:extLst>
          </p:cNvPr>
          <p:cNvSpPr/>
          <p:nvPr/>
        </p:nvSpPr>
        <p:spPr>
          <a:xfrm>
            <a:off x="6305909" y="608162"/>
            <a:ext cx="2337758" cy="1664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Server 3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7C66BE9-8906-A8BD-772F-9D95F72D6B76}"/>
              </a:ext>
            </a:extLst>
          </p:cNvPr>
          <p:cNvSpPr/>
          <p:nvPr/>
        </p:nvSpPr>
        <p:spPr>
          <a:xfrm>
            <a:off x="6458309" y="4231976"/>
            <a:ext cx="2337758" cy="166489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Server 4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14817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26F90BF-EFE9-5705-2068-62C791607BC9}"/>
              </a:ext>
            </a:extLst>
          </p:cNvPr>
          <p:cNvSpPr txBox="1"/>
          <p:nvPr/>
        </p:nvSpPr>
        <p:spPr>
          <a:xfrm>
            <a:off x="241540" y="198408"/>
            <a:ext cx="3916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/>
              <a:t>Private Data Centres, aka Private Cloud</a:t>
            </a:r>
            <a:endParaRPr lang="en-US" b="1" dirty="0"/>
          </a:p>
        </p:txBody>
      </p:sp>
      <p:sp>
        <p:nvSpPr>
          <p:cNvPr id="3" name="Cube 2">
            <a:extLst>
              <a:ext uri="{FF2B5EF4-FFF2-40B4-BE49-F238E27FC236}">
                <a16:creationId xmlns:a16="http://schemas.microsoft.com/office/drawing/2014/main" id="{AC8C2FED-DD48-65CB-3B40-4E5E34D18FD0}"/>
              </a:ext>
            </a:extLst>
          </p:cNvPr>
          <p:cNvSpPr/>
          <p:nvPr/>
        </p:nvSpPr>
        <p:spPr>
          <a:xfrm>
            <a:off x="241540" y="767752"/>
            <a:ext cx="11481758" cy="5710686"/>
          </a:xfrm>
          <a:prstGeom prst="cube">
            <a:avLst>
              <a:gd name="adj" fmla="val 3852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1285D0C-4B26-465D-3CC8-2402FECB0BB5}"/>
              </a:ext>
            </a:extLst>
          </p:cNvPr>
          <p:cNvSpPr/>
          <p:nvPr/>
        </p:nvSpPr>
        <p:spPr>
          <a:xfrm>
            <a:off x="370936" y="1099067"/>
            <a:ext cx="3338423" cy="24930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CB995F-DC04-801D-7CEE-D59F8101CE03}"/>
              </a:ext>
            </a:extLst>
          </p:cNvPr>
          <p:cNvSpPr/>
          <p:nvPr/>
        </p:nvSpPr>
        <p:spPr>
          <a:xfrm>
            <a:off x="439947" y="3048636"/>
            <a:ext cx="3157268" cy="474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Hardware + HOST OS</a:t>
            </a:r>
            <a:endParaRPr lang="en-US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E0C2B02-6890-401C-EA9C-5CE4EF1E0668}"/>
              </a:ext>
            </a:extLst>
          </p:cNvPr>
          <p:cNvSpPr/>
          <p:nvPr/>
        </p:nvSpPr>
        <p:spPr>
          <a:xfrm>
            <a:off x="439947" y="2491430"/>
            <a:ext cx="3157268" cy="47445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Virtualization S/W</a:t>
            </a:r>
            <a:endParaRPr lang="en-US" b="1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038C78-AA23-329A-9750-5364628C8B2B}"/>
              </a:ext>
            </a:extLst>
          </p:cNvPr>
          <p:cNvSpPr/>
          <p:nvPr/>
        </p:nvSpPr>
        <p:spPr>
          <a:xfrm>
            <a:off x="439947" y="1242204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4CBA98-9503-7884-D2BA-E6814E8A18F1}"/>
              </a:ext>
            </a:extLst>
          </p:cNvPr>
          <p:cNvSpPr/>
          <p:nvPr/>
        </p:nvSpPr>
        <p:spPr>
          <a:xfrm>
            <a:off x="1362973" y="1242204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1A0A302-A919-D981-4502-F7DD223C33EE}"/>
              </a:ext>
            </a:extLst>
          </p:cNvPr>
          <p:cNvSpPr/>
          <p:nvPr/>
        </p:nvSpPr>
        <p:spPr>
          <a:xfrm>
            <a:off x="2372265" y="1242204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63257BA-3C54-EB7A-D3D0-7836A5548C6D}"/>
              </a:ext>
            </a:extLst>
          </p:cNvPr>
          <p:cNvSpPr/>
          <p:nvPr/>
        </p:nvSpPr>
        <p:spPr>
          <a:xfrm>
            <a:off x="439947" y="2139351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Guest OS</a:t>
            </a:r>
            <a:endParaRPr lang="en-US" sz="11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6FA819C-6351-AC2E-DC71-6CCECAB04987}"/>
              </a:ext>
            </a:extLst>
          </p:cNvPr>
          <p:cNvSpPr/>
          <p:nvPr/>
        </p:nvSpPr>
        <p:spPr>
          <a:xfrm>
            <a:off x="448573" y="1744776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Runtime</a:t>
            </a:r>
            <a:endParaRPr lang="en-US" sz="110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FCB637-DAFF-92E0-1A36-611483C700DB}"/>
              </a:ext>
            </a:extLst>
          </p:cNvPr>
          <p:cNvSpPr/>
          <p:nvPr/>
        </p:nvSpPr>
        <p:spPr>
          <a:xfrm>
            <a:off x="448573" y="1413462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2D980B2-B0F8-0251-77F2-87B863364818}"/>
              </a:ext>
            </a:extLst>
          </p:cNvPr>
          <p:cNvSpPr/>
          <p:nvPr/>
        </p:nvSpPr>
        <p:spPr>
          <a:xfrm>
            <a:off x="1354347" y="2133935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Guest OS</a:t>
            </a:r>
            <a:endParaRPr lang="en-US" sz="110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47DF68B-427A-CCDB-85B0-8C8276DE31FE}"/>
              </a:ext>
            </a:extLst>
          </p:cNvPr>
          <p:cNvSpPr/>
          <p:nvPr/>
        </p:nvSpPr>
        <p:spPr>
          <a:xfrm>
            <a:off x="1362973" y="1739360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Runtime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A9DF20F-1D1F-B828-B43E-4271ABD6DA39}"/>
              </a:ext>
            </a:extLst>
          </p:cNvPr>
          <p:cNvSpPr/>
          <p:nvPr/>
        </p:nvSpPr>
        <p:spPr>
          <a:xfrm>
            <a:off x="1362973" y="1408046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0897216-AA88-1313-B971-B6257FBC95FB}"/>
              </a:ext>
            </a:extLst>
          </p:cNvPr>
          <p:cNvSpPr/>
          <p:nvPr/>
        </p:nvSpPr>
        <p:spPr>
          <a:xfrm>
            <a:off x="2372263" y="2102941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Guest OS</a:t>
            </a:r>
            <a:endParaRPr lang="en-US" sz="11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6A906DE-7B7F-EFE8-EABD-F77BB53FBE86}"/>
              </a:ext>
            </a:extLst>
          </p:cNvPr>
          <p:cNvSpPr/>
          <p:nvPr/>
        </p:nvSpPr>
        <p:spPr>
          <a:xfrm>
            <a:off x="2380889" y="1708366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Runtime</a:t>
            </a:r>
            <a:endParaRPr lang="en-US" sz="110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61DF8D0-9211-318B-C173-4B8BDE9D5918}"/>
              </a:ext>
            </a:extLst>
          </p:cNvPr>
          <p:cNvSpPr/>
          <p:nvPr/>
        </p:nvSpPr>
        <p:spPr>
          <a:xfrm>
            <a:off x="2380889" y="1408046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EE69F8F-3CE4-FBEE-E54D-1998318C4D46}"/>
              </a:ext>
            </a:extLst>
          </p:cNvPr>
          <p:cNvSpPr/>
          <p:nvPr/>
        </p:nvSpPr>
        <p:spPr>
          <a:xfrm>
            <a:off x="4377905" y="1099067"/>
            <a:ext cx="3338423" cy="24930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882BBF0-28A8-DAA8-C407-5A572F86AEFD}"/>
              </a:ext>
            </a:extLst>
          </p:cNvPr>
          <p:cNvSpPr/>
          <p:nvPr/>
        </p:nvSpPr>
        <p:spPr>
          <a:xfrm>
            <a:off x="4446916" y="3048636"/>
            <a:ext cx="3157268" cy="474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Hardware + HOST OS</a:t>
            </a:r>
            <a:endParaRPr lang="en-US" b="1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B70E694-6245-C3B0-E444-F3C08C101DC3}"/>
              </a:ext>
            </a:extLst>
          </p:cNvPr>
          <p:cNvSpPr/>
          <p:nvPr/>
        </p:nvSpPr>
        <p:spPr>
          <a:xfrm>
            <a:off x="4446916" y="2491430"/>
            <a:ext cx="3157268" cy="47445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Virtualization S/W</a:t>
            </a:r>
            <a:endParaRPr lang="en-US" b="1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740EA20-94FD-3A13-4B6B-32D630A17AC8}"/>
              </a:ext>
            </a:extLst>
          </p:cNvPr>
          <p:cNvSpPr/>
          <p:nvPr/>
        </p:nvSpPr>
        <p:spPr>
          <a:xfrm>
            <a:off x="4446916" y="1242204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013A2C3-C4FE-79D0-0561-37B5DC4CF5BC}"/>
              </a:ext>
            </a:extLst>
          </p:cNvPr>
          <p:cNvSpPr/>
          <p:nvPr/>
        </p:nvSpPr>
        <p:spPr>
          <a:xfrm>
            <a:off x="5369942" y="1242204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BCE505-88F9-88F6-6041-483B271AA625}"/>
              </a:ext>
            </a:extLst>
          </p:cNvPr>
          <p:cNvSpPr/>
          <p:nvPr/>
        </p:nvSpPr>
        <p:spPr>
          <a:xfrm>
            <a:off x="6379234" y="1242204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E02420E-7A84-15E8-DA19-70040E5B552C}"/>
              </a:ext>
            </a:extLst>
          </p:cNvPr>
          <p:cNvSpPr/>
          <p:nvPr/>
        </p:nvSpPr>
        <p:spPr>
          <a:xfrm>
            <a:off x="4446916" y="2139351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Guest OS</a:t>
            </a:r>
            <a:endParaRPr lang="en-US" sz="1100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85B52F3-36D3-63DA-BD95-CD2CAF57C948}"/>
              </a:ext>
            </a:extLst>
          </p:cNvPr>
          <p:cNvSpPr/>
          <p:nvPr/>
        </p:nvSpPr>
        <p:spPr>
          <a:xfrm>
            <a:off x="4455542" y="1744776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Runtime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9060C5C-FD72-4596-87C0-9253B83022AE}"/>
              </a:ext>
            </a:extLst>
          </p:cNvPr>
          <p:cNvSpPr/>
          <p:nvPr/>
        </p:nvSpPr>
        <p:spPr>
          <a:xfrm>
            <a:off x="4455542" y="1413462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3D52E38-44EB-6FAD-CCA5-6A88544CA548}"/>
              </a:ext>
            </a:extLst>
          </p:cNvPr>
          <p:cNvSpPr/>
          <p:nvPr/>
        </p:nvSpPr>
        <p:spPr>
          <a:xfrm>
            <a:off x="5369942" y="1408046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3CF00F1-B1B6-40AB-95E6-DD7B610B628A}"/>
              </a:ext>
            </a:extLst>
          </p:cNvPr>
          <p:cNvSpPr/>
          <p:nvPr/>
        </p:nvSpPr>
        <p:spPr>
          <a:xfrm>
            <a:off x="6379232" y="2102941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Guest OS</a:t>
            </a:r>
            <a:endParaRPr lang="en-US" sz="110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30EDE75-6542-235D-479B-4AB6B28B4174}"/>
              </a:ext>
            </a:extLst>
          </p:cNvPr>
          <p:cNvSpPr/>
          <p:nvPr/>
        </p:nvSpPr>
        <p:spPr>
          <a:xfrm>
            <a:off x="6387858" y="1708366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Runtime</a:t>
            </a:r>
            <a:endParaRPr lang="en-US" sz="1100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4242D16-68E5-F73B-DCD5-C4ED265A547F}"/>
              </a:ext>
            </a:extLst>
          </p:cNvPr>
          <p:cNvSpPr/>
          <p:nvPr/>
        </p:nvSpPr>
        <p:spPr>
          <a:xfrm>
            <a:off x="6387858" y="1408046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FFA4639-5221-908F-B21B-F46DE69EA00F}"/>
              </a:ext>
            </a:extLst>
          </p:cNvPr>
          <p:cNvSpPr/>
          <p:nvPr/>
        </p:nvSpPr>
        <p:spPr>
          <a:xfrm>
            <a:off x="7860101" y="3744501"/>
            <a:ext cx="3338423" cy="24930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9518372-A375-62C3-526C-DF95C69C4134}"/>
              </a:ext>
            </a:extLst>
          </p:cNvPr>
          <p:cNvSpPr/>
          <p:nvPr/>
        </p:nvSpPr>
        <p:spPr>
          <a:xfrm>
            <a:off x="7929112" y="5694070"/>
            <a:ext cx="3157268" cy="474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Hardware + HOST OS</a:t>
            </a:r>
            <a:endParaRPr lang="en-US" b="1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48DF095-F394-56EC-9338-058E5DCB289E}"/>
              </a:ext>
            </a:extLst>
          </p:cNvPr>
          <p:cNvSpPr/>
          <p:nvPr/>
        </p:nvSpPr>
        <p:spPr>
          <a:xfrm>
            <a:off x="7929112" y="5136864"/>
            <a:ext cx="3157268" cy="47445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Virtualization S/W</a:t>
            </a:r>
            <a:endParaRPr lang="en-US" b="1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7EBF60FE-A8B2-11A9-3350-2FDDC8434D25}"/>
              </a:ext>
            </a:extLst>
          </p:cNvPr>
          <p:cNvSpPr/>
          <p:nvPr/>
        </p:nvSpPr>
        <p:spPr>
          <a:xfrm>
            <a:off x="7929112" y="3887638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633860B-F90A-2E69-31CC-C520B9BA29C6}"/>
              </a:ext>
            </a:extLst>
          </p:cNvPr>
          <p:cNvSpPr/>
          <p:nvPr/>
        </p:nvSpPr>
        <p:spPr>
          <a:xfrm>
            <a:off x="8852138" y="3887638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5B869EA-751A-FFBA-30D2-78D2EED165EF}"/>
              </a:ext>
            </a:extLst>
          </p:cNvPr>
          <p:cNvSpPr/>
          <p:nvPr/>
        </p:nvSpPr>
        <p:spPr>
          <a:xfrm>
            <a:off x="9861430" y="3887638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8140373-666B-BB14-778A-E3CD6C209398}"/>
              </a:ext>
            </a:extLst>
          </p:cNvPr>
          <p:cNvSpPr/>
          <p:nvPr/>
        </p:nvSpPr>
        <p:spPr>
          <a:xfrm>
            <a:off x="7929112" y="4784785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Guest OS</a:t>
            </a:r>
            <a:endParaRPr lang="en-US" sz="1100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0AD9240-B2FC-71A0-5841-664324E3B571}"/>
              </a:ext>
            </a:extLst>
          </p:cNvPr>
          <p:cNvSpPr/>
          <p:nvPr/>
        </p:nvSpPr>
        <p:spPr>
          <a:xfrm>
            <a:off x="7937738" y="4390210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Runtime</a:t>
            </a:r>
            <a:endParaRPr lang="en-US" sz="11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0D993437-A7BA-9955-8966-8FC4B2260B70}"/>
              </a:ext>
            </a:extLst>
          </p:cNvPr>
          <p:cNvSpPr/>
          <p:nvPr/>
        </p:nvSpPr>
        <p:spPr>
          <a:xfrm>
            <a:off x="7937738" y="4058896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17CE063-C4AA-4621-7219-56736F0DBEC7}"/>
              </a:ext>
            </a:extLst>
          </p:cNvPr>
          <p:cNvSpPr/>
          <p:nvPr/>
        </p:nvSpPr>
        <p:spPr>
          <a:xfrm>
            <a:off x="8852138" y="4053480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EE191DB7-BF1A-E267-F70B-3B9C21D5AFB9}"/>
              </a:ext>
            </a:extLst>
          </p:cNvPr>
          <p:cNvSpPr/>
          <p:nvPr/>
        </p:nvSpPr>
        <p:spPr>
          <a:xfrm>
            <a:off x="9861428" y="4748375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Guest OS</a:t>
            </a:r>
            <a:endParaRPr lang="en-US" sz="1100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CEA5FC8-ABA0-5D91-05F5-72AB94BA43AE}"/>
              </a:ext>
            </a:extLst>
          </p:cNvPr>
          <p:cNvSpPr/>
          <p:nvPr/>
        </p:nvSpPr>
        <p:spPr>
          <a:xfrm>
            <a:off x="9870054" y="4353800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Runtime</a:t>
            </a:r>
            <a:endParaRPr lang="en-US" sz="1100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99A1DC24-0EEE-E7F4-0E16-9ED70C3F239F}"/>
              </a:ext>
            </a:extLst>
          </p:cNvPr>
          <p:cNvSpPr/>
          <p:nvPr/>
        </p:nvSpPr>
        <p:spPr>
          <a:xfrm>
            <a:off x="9870054" y="4053480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1A71E9B6-D4AD-9092-EAD7-B4DD2E7ABA33}"/>
              </a:ext>
            </a:extLst>
          </p:cNvPr>
          <p:cNvSpPr/>
          <p:nvPr/>
        </p:nvSpPr>
        <p:spPr>
          <a:xfrm>
            <a:off x="3466380" y="3832034"/>
            <a:ext cx="3338423" cy="24930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043447EC-7DAB-E61F-34E8-3FFE8DA8F6A7}"/>
              </a:ext>
            </a:extLst>
          </p:cNvPr>
          <p:cNvSpPr/>
          <p:nvPr/>
        </p:nvSpPr>
        <p:spPr>
          <a:xfrm>
            <a:off x="3535391" y="5781603"/>
            <a:ext cx="3157268" cy="474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Hardware + HOST OS</a:t>
            </a:r>
            <a:endParaRPr lang="en-US" b="1" dirty="0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4AAE0A4-5814-5ECA-BD26-90EE7913A3D5}"/>
              </a:ext>
            </a:extLst>
          </p:cNvPr>
          <p:cNvSpPr/>
          <p:nvPr/>
        </p:nvSpPr>
        <p:spPr>
          <a:xfrm>
            <a:off x="3535391" y="5224397"/>
            <a:ext cx="3157268" cy="47445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Virtualization S/W</a:t>
            </a:r>
            <a:endParaRPr lang="en-US" b="1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AD7E10F8-740B-F593-59EC-8538C878B2F1}"/>
              </a:ext>
            </a:extLst>
          </p:cNvPr>
          <p:cNvSpPr/>
          <p:nvPr/>
        </p:nvSpPr>
        <p:spPr>
          <a:xfrm>
            <a:off x="3535391" y="3975171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1AD2CFBF-4C12-4ABE-A7FD-5032A0AC1243}"/>
              </a:ext>
            </a:extLst>
          </p:cNvPr>
          <p:cNvSpPr/>
          <p:nvPr/>
        </p:nvSpPr>
        <p:spPr>
          <a:xfrm>
            <a:off x="4458417" y="3975171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7400A67F-FC9F-4E65-C916-E94C9BC69DA7}"/>
              </a:ext>
            </a:extLst>
          </p:cNvPr>
          <p:cNvSpPr/>
          <p:nvPr/>
        </p:nvSpPr>
        <p:spPr>
          <a:xfrm>
            <a:off x="5467709" y="3975171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FA16D2FC-4FA0-178E-FDF0-EB50CDE3CF85}"/>
              </a:ext>
            </a:extLst>
          </p:cNvPr>
          <p:cNvSpPr/>
          <p:nvPr/>
        </p:nvSpPr>
        <p:spPr>
          <a:xfrm>
            <a:off x="3535391" y="4872318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Guest OS</a:t>
            </a:r>
            <a:endParaRPr lang="en-US" sz="1100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56E5457-E97A-31AC-38C2-07918DC9A88C}"/>
              </a:ext>
            </a:extLst>
          </p:cNvPr>
          <p:cNvSpPr/>
          <p:nvPr/>
        </p:nvSpPr>
        <p:spPr>
          <a:xfrm>
            <a:off x="3544017" y="4477743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Runtime</a:t>
            </a:r>
            <a:endParaRPr lang="en-US" sz="1100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F497AE4F-9F29-CE1B-693A-AAA3273BD592}"/>
              </a:ext>
            </a:extLst>
          </p:cNvPr>
          <p:cNvSpPr/>
          <p:nvPr/>
        </p:nvSpPr>
        <p:spPr>
          <a:xfrm>
            <a:off x="3544017" y="4146429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4CE1EE6-CE7D-3556-2492-17AF4B172F6B}"/>
              </a:ext>
            </a:extLst>
          </p:cNvPr>
          <p:cNvSpPr/>
          <p:nvPr/>
        </p:nvSpPr>
        <p:spPr>
          <a:xfrm>
            <a:off x="4458417" y="4141013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40E418A0-A30F-C0D5-E61B-C0D2EB5A1944}"/>
              </a:ext>
            </a:extLst>
          </p:cNvPr>
          <p:cNvSpPr/>
          <p:nvPr/>
        </p:nvSpPr>
        <p:spPr>
          <a:xfrm>
            <a:off x="5467707" y="4835908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Guest OS</a:t>
            </a:r>
            <a:endParaRPr lang="en-US" sz="1100" dirty="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85548B4-0D5B-8F77-DAD0-F4F9EC6AE9AB}"/>
              </a:ext>
            </a:extLst>
          </p:cNvPr>
          <p:cNvSpPr/>
          <p:nvPr/>
        </p:nvSpPr>
        <p:spPr>
          <a:xfrm>
            <a:off x="5476333" y="4441333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Runtime</a:t>
            </a:r>
            <a:endParaRPr lang="en-US" sz="1100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9035295-0690-1984-9D61-12A6E206632B}"/>
              </a:ext>
            </a:extLst>
          </p:cNvPr>
          <p:cNvSpPr/>
          <p:nvPr/>
        </p:nvSpPr>
        <p:spPr>
          <a:xfrm>
            <a:off x="5476333" y="4141013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4084E78-FCE7-440A-FC0D-3FB2D5B58888}"/>
              </a:ext>
            </a:extLst>
          </p:cNvPr>
          <p:cNvSpPr/>
          <p:nvPr/>
        </p:nvSpPr>
        <p:spPr>
          <a:xfrm>
            <a:off x="50317" y="3916226"/>
            <a:ext cx="3338423" cy="249303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73C8ACA8-4B6C-3815-D0AD-97AC11D0726F}"/>
              </a:ext>
            </a:extLst>
          </p:cNvPr>
          <p:cNvSpPr/>
          <p:nvPr/>
        </p:nvSpPr>
        <p:spPr>
          <a:xfrm>
            <a:off x="119328" y="5865795"/>
            <a:ext cx="3157268" cy="474453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Hardware + HOST OS</a:t>
            </a:r>
            <a:endParaRPr lang="en-US" b="1" dirty="0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7B69D3A7-C377-2D37-F7B1-45E292504DC7}"/>
              </a:ext>
            </a:extLst>
          </p:cNvPr>
          <p:cNvSpPr/>
          <p:nvPr/>
        </p:nvSpPr>
        <p:spPr>
          <a:xfrm>
            <a:off x="119328" y="5308589"/>
            <a:ext cx="3157268" cy="474453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b="1" dirty="0"/>
              <a:t>Virtualization S/W</a:t>
            </a:r>
            <a:endParaRPr lang="en-US" b="1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61336633-8122-7D4D-4A7B-4112834F9080}"/>
              </a:ext>
            </a:extLst>
          </p:cNvPr>
          <p:cNvSpPr/>
          <p:nvPr/>
        </p:nvSpPr>
        <p:spPr>
          <a:xfrm>
            <a:off x="119328" y="4059363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175CA0DE-1F25-62D8-1557-E250FA79273B}"/>
              </a:ext>
            </a:extLst>
          </p:cNvPr>
          <p:cNvSpPr/>
          <p:nvPr/>
        </p:nvSpPr>
        <p:spPr>
          <a:xfrm>
            <a:off x="1042354" y="4059363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E01AED66-4C36-E468-B105-545D4D368A02}"/>
              </a:ext>
            </a:extLst>
          </p:cNvPr>
          <p:cNvSpPr/>
          <p:nvPr/>
        </p:nvSpPr>
        <p:spPr>
          <a:xfrm>
            <a:off x="2051646" y="4059363"/>
            <a:ext cx="854015" cy="127510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0736B11-EB60-90FB-022B-0560499D2F3C}"/>
              </a:ext>
            </a:extLst>
          </p:cNvPr>
          <p:cNvSpPr/>
          <p:nvPr/>
        </p:nvSpPr>
        <p:spPr>
          <a:xfrm>
            <a:off x="119328" y="4956510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Guest OS</a:t>
            </a:r>
            <a:endParaRPr lang="en-US" sz="110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09255C3-32B6-12F7-F748-D9D459F83023}"/>
              </a:ext>
            </a:extLst>
          </p:cNvPr>
          <p:cNvSpPr/>
          <p:nvPr/>
        </p:nvSpPr>
        <p:spPr>
          <a:xfrm>
            <a:off x="127954" y="4561935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Runtime</a:t>
            </a:r>
            <a:endParaRPr lang="en-US" sz="1100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AF19F13-52A7-F855-8377-BC61161076F5}"/>
              </a:ext>
            </a:extLst>
          </p:cNvPr>
          <p:cNvSpPr/>
          <p:nvPr/>
        </p:nvSpPr>
        <p:spPr>
          <a:xfrm>
            <a:off x="127954" y="4230621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068B71A-B7DB-8633-319F-9F394FC51A29}"/>
              </a:ext>
            </a:extLst>
          </p:cNvPr>
          <p:cNvSpPr/>
          <p:nvPr/>
        </p:nvSpPr>
        <p:spPr>
          <a:xfrm>
            <a:off x="1042354" y="4225205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899394F-CA0F-DED7-129E-D853217A861B}"/>
              </a:ext>
            </a:extLst>
          </p:cNvPr>
          <p:cNvSpPr/>
          <p:nvPr/>
        </p:nvSpPr>
        <p:spPr>
          <a:xfrm>
            <a:off x="2051644" y="4920100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Guest OS</a:t>
            </a:r>
            <a:endParaRPr lang="en-US" sz="1100" dirty="0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4ECA0215-B2B8-A1DB-BE8A-8532A7A7F2DD}"/>
              </a:ext>
            </a:extLst>
          </p:cNvPr>
          <p:cNvSpPr/>
          <p:nvPr/>
        </p:nvSpPr>
        <p:spPr>
          <a:xfrm>
            <a:off x="2060270" y="4525525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Runtime</a:t>
            </a:r>
            <a:endParaRPr lang="en-US" sz="1100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5ED9CE86-A1BE-3D0E-4556-3F53C59DDBAC}"/>
              </a:ext>
            </a:extLst>
          </p:cNvPr>
          <p:cNvSpPr/>
          <p:nvPr/>
        </p:nvSpPr>
        <p:spPr>
          <a:xfrm>
            <a:off x="2060270" y="4225205"/>
            <a:ext cx="854015" cy="30032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100" dirty="0"/>
              <a:t>App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614693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97D2D78-CF05-1047-3262-2044FE795265}"/>
              </a:ext>
            </a:extLst>
          </p:cNvPr>
          <p:cNvSpPr/>
          <p:nvPr/>
        </p:nvSpPr>
        <p:spPr>
          <a:xfrm>
            <a:off x="4114800" y="327804"/>
            <a:ext cx="3536830" cy="20099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App Hosted in </a:t>
            </a:r>
          </a:p>
          <a:p>
            <a:pPr algn="ctr"/>
            <a:r>
              <a:rPr lang="en-GB" dirty="0"/>
              <a:t>Centra India Region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1DA162A-8091-4737-A4EA-16D8246ED63F}"/>
              </a:ext>
            </a:extLst>
          </p:cNvPr>
          <p:cNvSpPr/>
          <p:nvPr/>
        </p:nvSpPr>
        <p:spPr>
          <a:xfrm>
            <a:off x="6734355" y="3913517"/>
            <a:ext cx="3536830" cy="20099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DB Hosted in </a:t>
            </a:r>
          </a:p>
          <a:p>
            <a:pPr algn="ctr"/>
            <a:r>
              <a:rPr lang="en-GB" dirty="0"/>
              <a:t>East US Region</a:t>
            </a:r>
            <a:endParaRPr lang="en-US" dirty="0"/>
          </a:p>
        </p:txBody>
      </p:sp>
      <p:cxnSp>
        <p:nvCxnSpPr>
          <p:cNvPr id="5" name="Connector: Elbow 4">
            <a:extLst>
              <a:ext uri="{FF2B5EF4-FFF2-40B4-BE49-F238E27FC236}">
                <a16:creationId xmlns:a16="http://schemas.microsoft.com/office/drawing/2014/main" id="{C485868D-706F-49F6-E54A-F0E3CC5E460E}"/>
              </a:ext>
            </a:extLst>
          </p:cNvPr>
          <p:cNvCxnSpPr>
            <a:stCxn id="2" idx="3"/>
            <a:endCxn id="3" idx="0"/>
          </p:cNvCxnSpPr>
          <p:nvPr/>
        </p:nvCxnSpPr>
        <p:spPr>
          <a:xfrm>
            <a:off x="7651630" y="1332781"/>
            <a:ext cx="851140" cy="25807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79F9C409-0FB4-9B06-926E-0EA467802F88}"/>
              </a:ext>
            </a:extLst>
          </p:cNvPr>
          <p:cNvCxnSpPr>
            <a:stCxn id="3" idx="1"/>
            <a:endCxn id="2" idx="2"/>
          </p:cNvCxnSpPr>
          <p:nvPr/>
        </p:nvCxnSpPr>
        <p:spPr>
          <a:xfrm rot="10800000">
            <a:off x="5883215" y="2337758"/>
            <a:ext cx="851140" cy="2580736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EC7D6BCB-4379-211E-0804-EC0183FDEB35}"/>
              </a:ext>
            </a:extLst>
          </p:cNvPr>
          <p:cNvSpPr txBox="1"/>
          <p:nvPr/>
        </p:nvSpPr>
        <p:spPr>
          <a:xfrm>
            <a:off x="4917057" y="2623149"/>
            <a:ext cx="4951562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b="1" dirty="0"/>
              <a:t>Calls  to DB for Read/Write</a:t>
            </a:r>
            <a:endParaRPr lang="en-US" b="1" dirty="0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4F33C0E2-D72C-D26A-746A-7AAFA77D267E}"/>
              </a:ext>
            </a:extLst>
          </p:cNvPr>
          <p:cNvSpPr/>
          <p:nvPr/>
        </p:nvSpPr>
        <p:spPr>
          <a:xfrm>
            <a:off x="681487" y="569343"/>
            <a:ext cx="3433313" cy="58659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Request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749976-023B-5CF6-BD86-C990326D8A49}"/>
              </a:ext>
            </a:extLst>
          </p:cNvPr>
          <p:cNvSpPr txBox="1"/>
          <p:nvPr/>
        </p:nvSpPr>
        <p:spPr>
          <a:xfrm>
            <a:off x="9074989" y="776377"/>
            <a:ext cx="2435524" cy="36933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GB" b="1" dirty="0"/>
              <a:t>Network Latency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06529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976</TotalTime>
  <Words>2141</Words>
  <Application>Microsoft Office PowerPoint</Application>
  <PresentationFormat>Widescreen</PresentationFormat>
  <Paragraphs>515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Aptos</vt:lpstr>
      <vt:lpstr>Aptos Display</vt:lpstr>
      <vt:lpstr>Arial</vt:lpstr>
      <vt:lpstr>Office Theme</vt:lpstr>
      <vt:lpstr>React App Dev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Mahesh Sabnis</dc:creator>
  <cp:lastModifiedBy>Mahesh Sabnis</cp:lastModifiedBy>
  <cp:revision>57</cp:revision>
  <dcterms:created xsi:type="dcterms:W3CDTF">2026-01-20T03:55:35Z</dcterms:created>
  <dcterms:modified xsi:type="dcterms:W3CDTF">2026-02-02T06:14:27Z</dcterms:modified>
</cp:coreProperties>
</file>